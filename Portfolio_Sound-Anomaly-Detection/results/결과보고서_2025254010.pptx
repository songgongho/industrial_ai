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1E2761"/>
            </a:solidFill>
            <a:ln>
              <a:solidFill>
                <a:srgbClr val="1E2761"/>
              </a:solidFill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0.001</c:v>
                </c:pt>
                <c:pt idx="1">
                  <c:v>0.002</c:v>
                </c:pt>
                <c:pt idx="2">
                  <c:v>0.003</c:v>
                </c:pt>
                <c:pt idx="3">
                  <c:v>0.004</c:v>
                </c:pt>
                <c:pt idx="4">
                  <c:v>0.005</c:v>
                </c:pt>
                <c:pt idx="5">
                  <c:v>0.006</c:v>
                </c:pt>
                <c:pt idx="6">
                  <c:v>0.007</c:v>
                </c:pt>
                <c:pt idx="7">
                  <c:v>0.008</c:v>
                </c:pt>
                <c:pt idx="8">
                  <c:v>0.009</c:v>
                </c:pt>
                <c:pt idx="9">
                  <c:v>0.010</c:v>
                </c:pt>
                <c:pt idx="10">
                  <c:v>0.011</c:v>
                </c:pt>
                <c:pt idx="11">
                  <c:v>0.012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20</c:v>
                </c:pt>
                <c:pt idx="2">
                  <c:v>55</c:v>
                </c:pt>
                <c:pt idx="3">
                  <c:v>85</c:v>
                </c:pt>
                <c:pt idx="4">
                  <c:v>120</c:v>
                </c:pt>
                <c:pt idx="5">
                  <c:v>110</c:v>
                </c:pt>
                <c:pt idx="6">
                  <c:v>80</c:v>
                </c:pt>
                <c:pt idx="7">
                  <c:v>45</c:v>
                </c:pt>
                <c:pt idx="8">
                  <c:v>20</c:v>
                </c:pt>
                <c:pt idx="9">
                  <c:v>8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E276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5B4-4EC6-8DD3-A31830DCEF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Abnormal</c:v>
                </c:pt>
              </c:strCache>
            </c:strRef>
          </c:tx>
          <c:spPr>
            <a:solidFill>
              <a:srgbClr val="C8102E"/>
            </a:solidFill>
            <a:ln>
              <a:solidFill>
                <a:srgbClr val="C8102E"/>
              </a:solidFill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0.001</c:v>
                </c:pt>
                <c:pt idx="1">
                  <c:v>0.002</c:v>
                </c:pt>
                <c:pt idx="2">
                  <c:v>0.003</c:v>
                </c:pt>
                <c:pt idx="3">
                  <c:v>0.004</c:v>
                </c:pt>
                <c:pt idx="4">
                  <c:v>0.005</c:v>
                </c:pt>
                <c:pt idx="5">
                  <c:v>0.006</c:v>
                </c:pt>
                <c:pt idx="6">
                  <c:v>0.007</c:v>
                </c:pt>
                <c:pt idx="7">
                  <c:v>0.008</c:v>
                </c:pt>
                <c:pt idx="8">
                  <c:v>0.009</c:v>
                </c:pt>
                <c:pt idx="9">
                  <c:v>0.010</c:v>
                </c:pt>
                <c:pt idx="10">
                  <c:v>0.011</c:v>
                </c:pt>
                <c:pt idx="11">
                  <c:v>0.012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8</c:v>
                </c:pt>
                <c:pt idx="5">
                  <c:v>15</c:v>
                </c:pt>
                <c:pt idx="6">
                  <c:v>22</c:v>
                </c:pt>
                <c:pt idx="7">
                  <c:v>28</c:v>
                </c:pt>
                <c:pt idx="8">
                  <c:v>22</c:v>
                </c:pt>
                <c:pt idx="9">
                  <c:v>15</c:v>
                </c:pt>
                <c:pt idx="10">
                  <c:v>8</c:v>
                </c:pt>
                <c:pt idx="1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C81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5B4-4EC6-8DD3-A31830DCEF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E2761"/>
            </a:solidFill>
            <a:ln>
              <a:solidFill>
                <a:srgbClr val="1E2761"/>
              </a:solidFill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A1A2E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P95</c:v>
                </c:pt>
                <c:pt idx="2">
                  <c:v>P97</c:v>
                </c:pt>
                <c:pt idx="3">
                  <c:v>Youden</c:v>
                </c:pt>
                <c:pt idx="4">
                  <c:v>F1-Max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0.57999999999999996</c:v>
                </c:pt>
                <c:pt idx="1">
                  <c:v>0.67200000000000004</c:v>
                </c:pt>
                <c:pt idx="2">
                  <c:v>0.65600000000000003</c:v>
                </c:pt>
                <c:pt idx="3">
                  <c:v>0.75800000000000001</c:v>
                </c:pt>
                <c:pt idx="4">
                  <c:v>0.82099999999999995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E276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CC7-4184-AA69-B2E737D00D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4A5FAB"/>
          </a:solidFill>
          <a:ln>
            <a:solidFill>
              <a:srgbClr val="4A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D3E7C"/>
          </a:solidFill>
          <a:ln>
            <a:solidFill>
              <a:srgbClr val="2D3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spc="600">
                <a:solidFill>
                  <a:srgbClr val="CADCFC"/>
                </a:solidFill>
                <a:latin typeface="맑은 고딕"/>
              </a:rPr>
              <a:t>CHUNGBUK NATIONAL UNIVERSITY  |  INDUSTRIAL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spc="300">
                <a:solidFill>
                  <a:srgbClr val="D4A017"/>
                </a:solidFill>
                <a:latin typeface="맑은 고딕"/>
              </a:rPr>
              <a:t>제조 데이터 분석과 최적화 — 7주차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CNN 오토인코더 성능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ADCFC"/>
                </a:solidFill>
                <a:latin typeface="맑은 고딕"/>
              </a:rPr>
              <a:t>Threshold(임계값) 최적화를 통한 F1-Score 0.75+ 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5486400" cy="1188720"/>
          </a:xfrm>
          <a:prstGeom prst="rect">
            <a:avLst/>
          </a:prstGeom>
          <a:solidFill>
            <a:srgbClr val="2C3B7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53035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CADCFC"/>
                </a:solidFill>
                <a:latin typeface="맑은 고딕"/>
              </a:rPr>
              <a:t>학번</a:t>
            </a:r>
            <a:r>
              <a:rPr sz="1200" dirty="0">
                <a:solidFill>
                  <a:srgbClr val="CADCFC"/>
                </a:solidFill>
                <a:latin typeface="맑은 고딕"/>
              </a:rPr>
              <a:t>  </a:t>
            </a:r>
            <a:r>
              <a:rPr sz="1600" b="1" dirty="0">
                <a:solidFill>
                  <a:srgbClr val="FFFFFF"/>
                </a:solidFill>
                <a:latin typeface="맑은 고딕"/>
              </a:rPr>
              <a:t>2025254010</a:t>
            </a:r>
          </a:p>
          <a:p>
            <a:r>
              <a:rPr sz="1200" dirty="0" err="1">
                <a:solidFill>
                  <a:srgbClr val="CADCFC"/>
                </a:solidFill>
                <a:latin typeface="맑은 고딕"/>
              </a:rPr>
              <a:t>이름</a:t>
            </a:r>
            <a:r>
              <a:rPr sz="1200" dirty="0">
                <a:solidFill>
                  <a:srgbClr val="CADCFC"/>
                </a:solidFill>
                <a:latin typeface="맑은 고딕"/>
              </a:rPr>
              <a:t>  </a:t>
            </a:r>
            <a:r>
              <a:rPr sz="1600" b="1" dirty="0" err="1">
                <a:solidFill>
                  <a:srgbClr val="FFFFFF"/>
                </a:solidFill>
                <a:latin typeface="맑은 고딕"/>
              </a:rPr>
              <a:t>송공호</a:t>
            </a:r>
            <a:endParaRPr sz="1600" b="1" dirty="0">
              <a:solidFill>
                <a:srgbClr val="FFFFFF"/>
              </a:solidFill>
              <a:latin typeface="맑은 고딕"/>
            </a:endParaRPr>
          </a:p>
          <a:p>
            <a:endParaRPr sz="14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63840" y="5760720"/>
            <a:ext cx="3749039" cy="45720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5852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맑은 고딕"/>
              </a:rPr>
              <a:t>Target :  F1 ≥ 0.75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CONTENTS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맑은 고딕"/>
              </a:rPr>
              <a:t>과제 개요 및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54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맑은 고딕"/>
              </a:rPr>
              <a:t>Task, Goal, Evaluation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874519"/>
            <a:ext cx="9601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02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맑은 고딕"/>
              </a:rPr>
              <a:t>Baseline 모델 및 성능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31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맑은 고딕"/>
              </a:rPr>
              <a:t>CNN Autoencoder 구조 및 초기 평가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651760"/>
            <a:ext cx="9601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69748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맑은 고딕"/>
              </a:rPr>
              <a:t>성능 한계 원인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108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맑은 고딕"/>
              </a:rPr>
              <a:t>복원오차 분포 해석 및 Threshold 민감도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3429000"/>
            <a:ext cx="9601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520439"/>
            <a:ext cx="640080" cy="64008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5204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474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맑은 고딕"/>
              </a:rPr>
              <a:t>개선 방법론 : Threshold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886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맑은 고딕"/>
              </a:rPr>
              <a:t>도입 기술 및 적용 이유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206240"/>
            <a:ext cx="9601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2519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맑은 고딕"/>
              </a:rPr>
              <a:t>실험 결과 및 지표 추이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6634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맑은 고딕"/>
              </a:rPr>
              <a:t>전략별 F1 / Precision / Recall 비교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4983480"/>
            <a:ext cx="9601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" y="5074920"/>
            <a:ext cx="640080" cy="64008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0292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맑은 고딕"/>
              </a:rPr>
              <a:t>최종 평가 및 결론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4406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맑은 고딕"/>
              </a:rPr>
              <a:t>Confusion Matrix 및 시사점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5760720"/>
            <a:ext cx="9601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01  TASK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과제 개요 및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760720" cy="52120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09728" cy="52120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과제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과 제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308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CNN 오토인코더 모델의 취약점 분석 및 성능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목 표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0487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F1-Score 0.75 이상 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26664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분 석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26664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실습 baseline 모델의 성능 한계 원인 해석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4845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방법론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48456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성능 향상을 위해 도입한 기술 및 적용 이유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02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참 고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7024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Dacon 236036 — CNN Autoencoder codeshare 7480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데이터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89204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MIMII Valve id_00 (Mel-Spectrogram 128×128)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097280"/>
            <a:ext cx="5120640" cy="237744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12344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600">
                <a:solidFill>
                  <a:srgbClr val="CADCFC"/>
                </a:solidFill>
                <a:latin typeface="맑은 고딕"/>
              </a:rPr>
              <a:t>TARGET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64592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F1-Score ≥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6060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맑은 고딕"/>
              </a:rPr>
              <a:t>Precision·Recall 균형 최적화를 통해 과탐/미탐 비용을 동시에 제어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657600"/>
            <a:ext cx="512064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0" y="374903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평가 지표 정의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052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맑은 고딕"/>
              </a:rPr>
              <a:t>F1-Score </a:t>
            </a:r>
            <a:r>
              <a:rPr sz="1100">
                <a:solidFill>
                  <a:srgbClr val="1A1A2E"/>
                </a:solidFill>
                <a:latin typeface="맑은 고딕"/>
              </a:rPr>
              <a:t>= 2·(Precision·Recall)/(Precision+Recall)</a:t>
            </a:r>
          </a:p>
          <a:p>
            <a:r>
              <a:rPr sz="1100" b="1">
                <a:solidFill>
                  <a:srgbClr val="1A1A2E"/>
                </a:solidFill>
                <a:latin typeface="맑은 고딕"/>
              </a:rPr>
              <a:t>Precision </a:t>
            </a:r>
            <a:r>
              <a:rPr sz="1100">
                <a:solidFill>
                  <a:srgbClr val="1A1A2E"/>
                </a:solidFill>
                <a:latin typeface="맑은 고딕"/>
              </a:rPr>
              <a:t>= TP / (TP + FP)   ·  오탐(과탐) 비용 제어</a:t>
            </a:r>
          </a:p>
          <a:p>
            <a:r>
              <a:rPr sz="1100" b="1">
                <a:solidFill>
                  <a:srgbClr val="1A1A2E"/>
                </a:solidFill>
                <a:latin typeface="맑은 고딕"/>
              </a:rPr>
              <a:t>Recall     </a:t>
            </a:r>
            <a:r>
              <a:rPr sz="1100">
                <a:solidFill>
                  <a:srgbClr val="1A1A2E"/>
                </a:solidFill>
                <a:latin typeface="맑은 고딕"/>
              </a:rPr>
              <a:t>= TP / (TP + FN)   ·  미탐(치명적 고장 누락) 억제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02 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Baseline 모델 구조 및 초기 성능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760720" cy="52120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맑은 고딕"/>
              </a:rPr>
              <a:t>CNN Autoencoder (실습 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28016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Input
128×128×1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828800"/>
            <a:ext cx="1280160" cy="640080"/>
          </a:xfrm>
          <a:prstGeom prst="rect">
            <a:avLst/>
          </a:prstGeom>
          <a:solidFill>
            <a:srgbClr val="4A5FAB"/>
          </a:solidFill>
          <a:ln w="6350">
            <a:solidFill>
              <a:srgbClr val="4A5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1828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Encoder
Conv×4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828800"/>
            <a:ext cx="1280160" cy="640080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Latent
64-dim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828800"/>
            <a:ext cx="1280160" cy="640080"/>
          </a:xfrm>
          <a:prstGeom prst="rect">
            <a:avLst/>
          </a:prstGeom>
          <a:solidFill>
            <a:srgbClr val="4A5FAB"/>
          </a:solidFill>
          <a:ln w="6350">
            <a:solidFill>
              <a:srgbClr val="4A5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Decoder
ConvT×4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학습 방식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맑은 고딕"/>
              </a:rPr>
              <a:t>입력 : </a:t>
            </a:r>
            <a:r>
              <a:rPr sz="1100">
                <a:solidFill>
                  <a:srgbClr val="1A1A2E"/>
                </a:solidFill>
                <a:latin typeface="맑은 고딕"/>
              </a:rPr>
              <a:t>Mel-Spectrogram 128 bands × 128 frames (log-scale 정규화)</a:t>
            </a:r>
          </a:p>
          <a:p>
            <a:r>
              <a:rPr sz="1100" b="1">
                <a:solidFill>
                  <a:srgbClr val="1A1A2E"/>
                </a:solidFill>
                <a:latin typeface="맑은 고딕"/>
              </a:rPr>
              <a:t>학습 : </a:t>
            </a:r>
            <a:r>
              <a:rPr sz="1100">
                <a:solidFill>
                  <a:srgbClr val="1A1A2E"/>
                </a:solidFill>
                <a:latin typeface="맑은 고딕"/>
              </a:rPr>
              <a:t>정상(Normal) 데이터만 사용한 MSE 복원 손실 최소화</a:t>
            </a:r>
          </a:p>
          <a:p>
            <a:r>
              <a:rPr sz="1100" b="1">
                <a:solidFill>
                  <a:srgbClr val="1A1A2E"/>
                </a:solidFill>
                <a:latin typeface="맑은 고딕"/>
              </a:rPr>
              <a:t>판정 : </a:t>
            </a:r>
            <a:r>
              <a:rPr sz="1100">
                <a:solidFill>
                  <a:srgbClr val="1A1A2E"/>
                </a:solidFill>
                <a:latin typeface="맑은 고딕"/>
              </a:rPr>
              <a:t>테스트 샘플 복원오차(MSE) ≥ Threshold → 이상(Abnormal) 판정</a:t>
            </a:r>
          </a:p>
          <a:p>
            <a:r>
              <a:rPr sz="1100" b="1">
                <a:solidFill>
                  <a:srgbClr val="1A1A2E"/>
                </a:solidFill>
                <a:latin typeface="맑은 고딕"/>
              </a:rPr>
              <a:t>Optim : </a:t>
            </a:r>
            <a:r>
              <a:rPr sz="1100">
                <a:solidFill>
                  <a:srgbClr val="1A1A2E"/>
                </a:solidFill>
                <a:latin typeface="맑은 고딕"/>
              </a:rPr>
              <a:t>Adam(lr=1e-3),  Epoch 50,  Batch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8102E"/>
                </a:solidFill>
                <a:latin typeface="맑은 고딕"/>
              </a:rPr>
              <a:t>Baseline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맑은 고딕"/>
              </a:rPr>
              <a:t>정상 학습오차 평균 + 3σ  (통계적 경계치)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097280"/>
            <a:ext cx="5120640" cy="52120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234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맑은 고딕"/>
              </a:rPr>
              <a:t>Baseline 초기 성능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737360"/>
            <a:ext cx="2286000" cy="1097280"/>
          </a:xfrm>
          <a:prstGeom prst="rect">
            <a:avLst/>
          </a:prstGeom>
          <a:solidFill>
            <a:srgbClr val="2C3B7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1828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ADCFC"/>
                </a:solidFill>
                <a:latin typeface="맑은 고딕"/>
              </a:rPr>
              <a:t>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05740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8102E"/>
                </a:solidFill>
                <a:latin typeface="맑은 고딕"/>
              </a:rPr>
              <a:t>0.58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737360"/>
            <a:ext cx="2286000" cy="1097280"/>
          </a:xfrm>
          <a:prstGeom prst="rect">
            <a:avLst/>
          </a:prstGeom>
          <a:solidFill>
            <a:srgbClr val="2C3B7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1828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ADCFC"/>
                </a:solidFill>
                <a:latin typeface="맑은 고딕"/>
              </a:rPr>
              <a:t>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05740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ADCFC"/>
                </a:solidFill>
                <a:latin typeface="맑은 고딕"/>
              </a:rPr>
              <a:t>0.83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017520"/>
            <a:ext cx="2286000" cy="1097280"/>
          </a:xfrm>
          <a:prstGeom prst="rect">
            <a:avLst/>
          </a:prstGeom>
          <a:solidFill>
            <a:srgbClr val="2C3B7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31089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ADCFC"/>
                </a:solidFill>
                <a:latin typeface="맑은 고딕"/>
              </a:rPr>
              <a:t>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3756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8102E"/>
                </a:solidFill>
                <a:latin typeface="맑은 고딕"/>
              </a:rPr>
              <a:t>0.44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3017520"/>
            <a:ext cx="2286000" cy="1097280"/>
          </a:xfrm>
          <a:prstGeom prst="rect">
            <a:avLst/>
          </a:prstGeom>
          <a:solidFill>
            <a:srgbClr val="2C3B7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31089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ADCFC"/>
                </a:solidFill>
                <a:latin typeface="맑은 고딕"/>
              </a:rPr>
              <a:t>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33756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ADCFC"/>
                </a:solidFill>
                <a:latin typeface="맑은 고딕"/>
              </a:rPr>
              <a:t>0.91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38912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4A017"/>
                </a:solidFill>
                <a:latin typeface="맑은 고딕"/>
              </a:rPr>
              <a:t>※ </a:t>
            </a:r>
            <a:r>
              <a:rPr sz="1100">
                <a:solidFill>
                  <a:srgbClr val="FFFFFF"/>
                </a:solidFill>
                <a:latin typeface="맑은 고딕"/>
              </a:rPr>
              <a:t>Precision은 높지만 Recall이 낮아 </a:t>
            </a:r>
            <a:r>
              <a:rPr sz="1100" b="1">
                <a:solidFill>
                  <a:srgbClr val="D4A017"/>
                </a:solidFill>
                <a:latin typeface="맑은 고딕"/>
              </a:rPr>
              <a:t>치명적 고장 누락(FN) </a:t>
            </a:r>
            <a:r>
              <a:rPr sz="1100">
                <a:solidFill>
                  <a:srgbClr val="FFFFFF"/>
                </a:solidFill>
                <a:latin typeface="맑은 고딕"/>
              </a:rPr>
              <a:t>위험 존재</a:t>
            </a:r>
          </a:p>
          <a:p>
            <a:r>
              <a:rPr sz="1100" b="1">
                <a:solidFill>
                  <a:srgbClr val="D4A017"/>
                </a:solidFill>
                <a:latin typeface="맑은 고딕"/>
              </a:rPr>
              <a:t>※ </a:t>
            </a:r>
            <a:r>
              <a:rPr sz="1100">
                <a:solidFill>
                  <a:srgbClr val="FFFFFF"/>
                </a:solidFill>
                <a:latin typeface="맑은 고딕"/>
              </a:rPr>
              <a:t>F1 = 0.58 → 목표(0.75) 미달, 임계값 전략 재설계 필요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03 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성능 한계 원인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76072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640080" cy="15544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34439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복원오차 분포 중첩(Overlap)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45919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맑은 고딕"/>
              </a:rPr>
              <a:t>정상/이상 MSE 히스토그램이 중첩되는 구간에서 임계값 오판 집중 → Recall 저하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576072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640080" cy="15544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26079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μ+3σ 기반 Threshold의 보수성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3756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맑은 고딕"/>
              </a:rPr>
              <a:t>정상 학습오차 통계에만 의존, 이상 분포를 전혀 고려하지 않음 → 이상 샘플 MSE가 중첩 구간에 위치하면 Normal로 오분류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76072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640080" cy="15544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177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클래스 불균형 (Normal ≫ Abnormal)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2920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맑은 고딕"/>
              </a:rPr>
              <a:t>Valve id_00 : Normal 991 vs Abnormal 119. Accuracy는 높아도 F1 저하. 소수 클래스 민감도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097280"/>
            <a:ext cx="5120640" cy="52120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1188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복원오차 분포 진단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675120" y="160020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Rectangle 24"/>
          <p:cNvSpPr/>
          <p:nvPr/>
        </p:nvSpPr>
        <p:spPr>
          <a:xfrm>
            <a:off x="6766560" y="4754880"/>
            <a:ext cx="4846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84632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맑은 고딕"/>
              </a:rPr>
              <a:t>■ 해석 : </a:t>
            </a:r>
            <a:r>
              <a:rPr sz="1100">
                <a:solidFill>
                  <a:srgbClr val="1A1A2E"/>
                </a:solidFill>
                <a:latin typeface="맑은 고딕"/>
              </a:rPr>
              <a:t>두 분포가 </a:t>
            </a:r>
            <a:r>
              <a:rPr sz="1100" b="1">
                <a:solidFill>
                  <a:srgbClr val="1E2761"/>
                </a:solidFill>
                <a:latin typeface="맑은 고딕"/>
              </a:rPr>
              <a:t>0.005~0.008 </a:t>
            </a:r>
            <a:r>
              <a:rPr sz="1100">
                <a:solidFill>
                  <a:srgbClr val="1A1A2E"/>
                </a:solidFill>
                <a:latin typeface="맑은 고딕"/>
              </a:rPr>
              <a:t>구간에서 중첩 → μ+3σ(≈0.0071)가 우측에 치우쳐 이상 샘플의 절반 이상을 Normal로 오분류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04 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개선 방법론 : Threshold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맑은 고딕"/>
              </a:rPr>
              <a:t>모델 아키텍처 / 학습 데이터는 Baseline과 동일 조건 유지, 판정 경계(Threshold)만 데이터 기반으로 재설계하여 F1 향상 도모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37160" cy="2011680"/>
          </a:xfrm>
          <a:prstGeom prst="rect">
            <a:avLst/>
          </a:prstGeom>
          <a:solidFill>
            <a:srgbClr val="4A5FAB"/>
          </a:solidFill>
          <a:ln w="6350">
            <a:solidFill>
              <a:srgbClr val="4A5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맑은 고딕"/>
              </a:rPr>
              <a:t>Percentile-based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4A5FAB"/>
                </a:solidFill>
                <a:latin typeface="맑은 고딕"/>
              </a:rPr>
              <a:t>정상 학습오차 q% 분위수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43200"/>
            <a:ext cx="5029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맑은 고딕"/>
              </a:rPr>
              <a:t>적용 이유 : </a:t>
            </a:r>
            <a:r>
              <a:rPr sz="1100">
                <a:solidFill>
                  <a:srgbClr val="1A1A2E"/>
                </a:solidFill>
                <a:latin typeface="맑은 고딕"/>
              </a:rPr>
              <a:t>정규성 가정을 완화하고 꼬리 분포(outlier)에 강건한 경계치 설정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137160" cy="2011680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맑은 고딕"/>
              </a:rPr>
              <a:t>Youden's 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65A82"/>
                </a:solidFill>
                <a:latin typeface="맑은 고딕"/>
              </a:rPr>
              <a:t>ROC 곡선 상 TPR−FPR 최대점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743200"/>
            <a:ext cx="5029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맑은 고딕"/>
              </a:rPr>
              <a:t>적용 이유 : </a:t>
            </a:r>
            <a:r>
              <a:rPr sz="1100">
                <a:solidFill>
                  <a:srgbClr val="1A1A2E"/>
                </a:solidFill>
                <a:latin typeface="맑은 고딕"/>
              </a:rPr>
              <a:t>민감도/특이도를 동시에 고려한 균형점 선정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37160" cy="2011680"/>
          </a:xfrm>
          <a:prstGeom prst="rect">
            <a:avLst/>
          </a:prstGeom>
          <a:solidFill>
            <a:srgbClr val="C8102E"/>
          </a:solidFill>
          <a:ln w="63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맑은 고딕"/>
              </a:rPr>
              <a:t>F1-Maximization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C8102E"/>
                </a:solidFill>
                <a:latin typeface="맑은 고딕"/>
              </a:rPr>
              <a:t>PR 곡선 상 F1 최대점 탐색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83480"/>
            <a:ext cx="5029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맑은 고딕"/>
              </a:rPr>
              <a:t>적용 이유 : </a:t>
            </a:r>
            <a:r>
              <a:rPr sz="1100">
                <a:solidFill>
                  <a:srgbClr val="1A1A2E"/>
                </a:solidFill>
                <a:latin typeface="맑은 고딕"/>
              </a:rPr>
              <a:t>클래스 불균형 환경에서 F1을 직접 최적화, 목표 지표와 일치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06908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069080"/>
            <a:ext cx="137160" cy="2011680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맑은 고딕"/>
              </a:rPr>
              <a:t>Confidence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4A017"/>
                </a:solidFill>
                <a:latin typeface="맑은 고딕"/>
              </a:rPr>
              <a:t>상위 1~5% 오차 밴드 도입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983480"/>
            <a:ext cx="5029200" cy="1828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07492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맑은 고딕"/>
              </a:rPr>
              <a:t>적용 이유 : </a:t>
            </a:r>
            <a:r>
              <a:rPr sz="1100">
                <a:solidFill>
                  <a:srgbClr val="1A1A2E"/>
                </a:solidFill>
                <a:latin typeface="맑은 고딕"/>
              </a:rPr>
              <a:t>현장 Human-in-the-loop 운영 로직과 연계된 2단 임계값 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04-A 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적용 기법 상세 : 수식 및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2468880" cy="8686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정상 데이터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>
                <a:solidFill>
                  <a:srgbClr val="CADCFC"/>
                </a:solidFill>
                <a:latin typeface="맑은 고딕"/>
              </a:rPr>
              <a:t>Autoencoder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5808" y="1371600"/>
            <a:ext cx="320040" cy="320040"/>
          </a:xfrm>
          <a:prstGeom prst="rightArrow">
            <a:avLst/>
          </a:prstGeom>
          <a:solidFill>
            <a:srgbClr val="D4A017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097280"/>
            <a:ext cx="2468880" cy="8686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17043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복원오차 산출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36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>
                <a:solidFill>
                  <a:srgbClr val="CADCFC"/>
                </a:solidFill>
                <a:latin typeface="맑은 고딕"/>
              </a:rPr>
              <a:t>MSE(x, x̂)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70448" y="1371600"/>
            <a:ext cx="320040" cy="320040"/>
          </a:xfrm>
          <a:prstGeom prst="rightArrow">
            <a:avLst/>
          </a:prstGeom>
          <a:solidFill>
            <a:srgbClr val="D4A017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468880" cy="8686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17043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Threshold 후보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36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>
                <a:solidFill>
                  <a:srgbClr val="CADCFC"/>
                </a:solidFill>
                <a:latin typeface="맑은 고딕"/>
              </a:rPr>
              <a:t>4가지 전략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05088" y="1371600"/>
            <a:ext cx="320040" cy="320040"/>
          </a:xfrm>
          <a:prstGeom prst="rightArrow">
            <a:avLst/>
          </a:prstGeom>
          <a:solidFill>
            <a:srgbClr val="D4A017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097280"/>
            <a:ext cx="2468880" cy="8686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17043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F1 평가 및 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536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>
                <a:solidFill>
                  <a:srgbClr val="CADCFC"/>
                </a:solidFill>
                <a:latin typeface="맑은 고딕"/>
              </a:rPr>
              <a:t>최적 Th*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286000"/>
            <a:ext cx="557784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3774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Youden's J Statistic (ROC)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8892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onsolas"/>
              </a:rPr>
              <a:t>J(t) = TPR(t) − FPR(t)      ⇒      t* = argmax  J(t)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맑은 고딕"/>
              </a:rPr>
              <a:t>민감도(TPR)와 1-특이도(FPR)의 차를 최대화 → 불균형 환경에서도 이상탐지 성능/정상 유지 성능의 교환점 제공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286000"/>
            <a:ext cx="548640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F1-Max on Precision-Recall 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onsolas"/>
              </a:rPr>
              <a:t>t* = argmax  2·P(t)·R(t) / ( P(t)+R(t)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맑은 고딕"/>
              </a:rPr>
              <a:t>본 과제의 목표 지표(F1)를 직접 최적화 → 클래스 불균형이 큰 MIMII valve 데이터에 가장 적합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11247120" cy="173736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137160" cy="1737360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663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Threshold 선정 신뢰성 확보 방안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29200"/>
            <a:ext cx="109728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맑은 고딕"/>
              </a:rPr>
              <a:t>① 정상 학습셋과 분리된 검증셋(Normal 20% + Abnormal 전량)에서 Threshold 탐색, 최종 테스트 평가와 명확히 구분</a:t>
            </a:r>
          </a:p>
          <a:p>
            <a:r>
              <a:rPr sz="1100">
                <a:solidFill>
                  <a:srgbClr val="FFFFFF"/>
                </a:solidFill>
                <a:latin typeface="맑은 고딕"/>
              </a:rPr>
              <a:t>② Percentile · Youden · F1-Max 3종 전략을 동시 수행, Precision/Recall 추이를 함께 보고하여 과적합 점검</a:t>
            </a:r>
          </a:p>
          <a:p>
            <a:r>
              <a:rPr sz="1100">
                <a:solidFill>
                  <a:srgbClr val="FFFFFF"/>
                </a:solidFill>
                <a:latin typeface="맑은 고딕"/>
              </a:rPr>
              <a:t>③ 실제 현장 배포 시에는 Confidence 구간(95% / 70~95% / &lt;70%)으로 이원화하여 Human-in-the-loop 연계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05 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실험 결과 : 전략별 평가지표 변화 추이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Threshold 전략별 성능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1732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전략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Threshold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F1-Score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맑은 고딕"/>
                        </a:rPr>
                        <a:t>Baseline (μ+3σ)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0.00712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맑은 고딕"/>
                        </a:rPr>
                        <a:t>Percentile 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0.00548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맑은 고딕"/>
                        </a:rPr>
                        <a:t>Percentile 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0.00605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맑은 고딕"/>
                        </a:rPr>
                        <a:t>Youden's J (ROC)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0.00512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  <a:latin typeface="맑은 고딕"/>
                        </a:rPr>
                        <a:t>0.758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8102E"/>
                          </a:solidFill>
                          <a:latin typeface="맑은 고딕"/>
                        </a:rPr>
                        <a:t>F1-Max (PR curve)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102E"/>
                          </a:solidFill>
                          <a:latin typeface="맑은 고딕"/>
                        </a:rPr>
                        <a:t>0.00495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102E"/>
                          </a:solidFill>
                          <a:latin typeface="맑은 고딕"/>
                        </a:rPr>
                        <a:t>0.795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102E"/>
                          </a:solidFill>
                          <a:latin typeface="맑은 고딕"/>
                        </a:rPr>
                        <a:t>0.848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102E"/>
                          </a:solidFill>
                          <a:latin typeface="맑은 고딕"/>
                        </a:rPr>
                        <a:t>0.821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051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전략별 F1-Score 추이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49440" y="1417320"/>
          <a:ext cx="4846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332720" y="28803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C8102E"/>
                </a:solidFill>
                <a:latin typeface="맑은 고딕"/>
              </a:rPr>
              <a:t>F1 = 0.75 (목표)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09728" cy="1554480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주요 관찰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맑은 고딕"/>
              </a:rPr>
              <a:t>◦ Baseline(μ+3σ)은 </a:t>
            </a:r>
            <a:r>
              <a:rPr sz="1100" b="1">
                <a:solidFill>
                  <a:srgbClr val="C8102E"/>
                </a:solidFill>
                <a:latin typeface="맑은 고딕"/>
              </a:rPr>
              <a:t>Precision은 0.83로 높지만 Recall이 0.44로 낮음</a:t>
            </a:r>
            <a:r>
              <a:rPr sz="1100">
                <a:solidFill>
                  <a:srgbClr val="1A1A2E"/>
                </a:solidFill>
                <a:latin typeface="맑은 고딕"/>
              </a:rPr>
              <a:t> → 미탐 위험이 크고 F1 0.58로 목표 미달</a:t>
            </a:r>
          </a:p>
          <a:p>
            <a:r>
              <a:rPr sz="1100">
                <a:solidFill>
                  <a:srgbClr val="1A1A2E"/>
                </a:solidFill>
                <a:latin typeface="맑은 고딕"/>
              </a:rPr>
              <a:t>◦ Youden's J는 F1 0.758로 </a:t>
            </a:r>
            <a:r>
              <a:rPr sz="1100" b="1">
                <a:solidFill>
                  <a:srgbClr val="1E2761"/>
                </a:solidFill>
                <a:latin typeface="맑은 고딕"/>
              </a:rPr>
              <a:t>목표 0.75를 근접 달성</a:t>
            </a:r>
            <a:r>
              <a:rPr sz="1100">
                <a:solidFill>
                  <a:srgbClr val="1A1A2E"/>
                </a:solidFill>
                <a:latin typeface="맑은 고딕"/>
              </a:rPr>
              <a:t>, F1-Max는 </a:t>
            </a:r>
            <a:r>
              <a:rPr sz="1100" b="1">
                <a:solidFill>
                  <a:srgbClr val="C8102E"/>
                </a:solidFill>
                <a:latin typeface="맑은 고딕"/>
              </a:rPr>
              <a:t>F1 0.821로 목표를 +0.07 초과 달성</a:t>
            </a:r>
          </a:p>
          <a:p>
            <a:r>
              <a:rPr sz="1100">
                <a:solidFill>
                  <a:srgbClr val="1A1A2E"/>
                </a:solidFill>
                <a:latin typeface="맑은 고딕"/>
              </a:rPr>
              <a:t>◦ Baseline 대비 F1 +0.241 개선 (+41.5% 상대 향상). 구조 변경 없이 </a:t>
            </a:r>
            <a:r>
              <a:rPr sz="1100" b="1">
                <a:solidFill>
                  <a:srgbClr val="1E2761"/>
                </a:solidFill>
                <a:latin typeface="맑은 고딕"/>
              </a:rPr>
              <a:t>판정 경계 재설계만으로 큰 성능 향상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06  FINAL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최종 평가 결과 : Confusion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>
                <a:solidFill>
                  <a:srgbClr val="CADCFC"/>
                </a:solidFill>
                <a:latin typeface="맑은 고딕"/>
              </a:rPr>
              <a:t>최종 선정 전략 :  </a:t>
            </a:r>
            <a:r>
              <a:rPr sz="1300" b="1">
                <a:solidFill>
                  <a:srgbClr val="FFFFFF"/>
                </a:solidFill>
                <a:latin typeface="맑은 고딕"/>
              </a:rPr>
              <a:t>F1-Max (PR curve)  |  Threshold = 0.00495  |  F1-Score = </a:t>
            </a:r>
            <a:r>
              <a:rPr sz="1600" b="1">
                <a:solidFill>
                  <a:srgbClr val="D4A017"/>
                </a:solidFill>
                <a:latin typeface="맑은 고딕"/>
              </a:rPr>
              <a:t>0.821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Confusion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86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맑은 고딕"/>
              </a:rPr>
              <a:t>예측 :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맑은 고딕"/>
              </a:rPr>
              <a:t>예측 : Abnormal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맑은 고딕"/>
              </a:rPr>
              <a:t>실제
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맑은 고딕"/>
              </a:rPr>
              <a:t>실제
Abnormal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743200"/>
            <a:ext cx="1828800" cy="9144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27889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맑은 고딕"/>
              </a:rPr>
              <a:t>TN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173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3401568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맑은 고딕"/>
              </a:rPr>
              <a:t>정상 가동 유지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743200"/>
            <a:ext cx="1828800" cy="914400"/>
          </a:xfrm>
          <a:prstGeom prst="rect">
            <a:avLst/>
          </a:prstGeom>
          <a:solidFill>
            <a:srgbClr val="E8EEFA"/>
          </a:solidFill>
          <a:ln w="6350">
            <a:solidFill>
              <a:srgbClr val="E8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59" y="27889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맑은 고딕"/>
              </a:rPr>
              <a:t>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맑은 고딕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01568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>
                <a:solidFill>
                  <a:srgbClr val="1A1A2E"/>
                </a:solidFill>
                <a:latin typeface="맑은 고딕"/>
              </a:rPr>
              <a:t>불필요한 점검 (비용)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3749039"/>
            <a:ext cx="1828800" cy="914400"/>
          </a:xfrm>
          <a:prstGeom prst="rect">
            <a:avLst/>
          </a:prstGeom>
          <a:solidFill>
            <a:srgbClr val="F7CACA"/>
          </a:solidFill>
          <a:ln w="6350">
            <a:solidFill>
              <a:srgbClr val="F7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3794759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맑은 고딕"/>
              </a:rPr>
              <a:t>FN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931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맑은 고딕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39" y="4407407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>
                <a:solidFill>
                  <a:srgbClr val="1A1A2E"/>
                </a:solidFill>
                <a:latin typeface="맑은 고딕"/>
              </a:rPr>
              <a:t>치명적 누락 (위험)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749039"/>
            <a:ext cx="1828800" cy="914400"/>
          </a:xfrm>
          <a:prstGeom prst="rect">
            <a:avLst/>
          </a:prstGeom>
          <a:solidFill>
            <a:srgbClr val="C8102E"/>
          </a:solidFill>
          <a:ln w="63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59" y="3794759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맑은 고딕"/>
              </a:rPr>
              <a:t>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931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407407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맑은 고딕"/>
              </a:rPr>
              <a:t>성공적 예지보전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920240"/>
            <a:ext cx="512064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맑은 고딕"/>
              </a:rPr>
              <a:t>최종 지표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423160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246887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맑은 고딕"/>
              </a:rPr>
              <a:t>F1-Score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71576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8102E"/>
                </a:solidFill>
                <a:latin typeface="맑은 고딕"/>
              </a:rPr>
              <a:t>0.821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423160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72600" y="246887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맑은 고딕"/>
              </a:rPr>
              <a:t>Precision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71576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맑은 고딕"/>
              </a:rPr>
              <a:t>0.795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474720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03720" y="352043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맑은 고딕"/>
              </a:rPr>
              <a:t>Recall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76732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맑은 고딕"/>
              </a:rPr>
              <a:t>0.848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3474720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72600" y="352043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맑은 고딕"/>
              </a:rPr>
              <a:t>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76732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맑은 고딕"/>
              </a:rPr>
              <a:t>0.862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846320"/>
            <a:ext cx="5120640" cy="146304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49377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D4A017"/>
                </a:solidFill>
                <a:latin typeface="맑은 고딕"/>
              </a:rPr>
              <a:t>목표 대비 달성도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3035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F1 목표 0.750 → 달성 0.821  </a:t>
            </a:r>
            <a:r>
              <a:rPr sz="1200" b="1">
                <a:solidFill>
                  <a:srgbClr val="D4A017"/>
                </a:solidFill>
                <a:latin typeface="맑은 고딕"/>
              </a:rPr>
              <a:t>(목표 +9.5%p 초과)</a:t>
            </a:r>
          </a:p>
          <a:p>
            <a:r>
              <a:rPr sz="1200" b="1">
                <a:solidFill>
                  <a:srgbClr val="FFFFFF"/>
                </a:solidFill>
                <a:latin typeface="맑은 고딕"/>
              </a:rPr>
              <a:t>Baseline 0.580 → 0.821  </a:t>
            </a:r>
            <a:r>
              <a:rPr sz="1200" b="1">
                <a:solidFill>
                  <a:srgbClr val="D4A017"/>
                </a:solidFill>
                <a:latin typeface="맑은 고딕"/>
              </a:rPr>
              <a:t>(+0.241 / +41.6% 상대 향상)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46320"/>
            <a:ext cx="5943600" cy="146304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4937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E2761"/>
                </a:solidFill>
                <a:latin typeface="맑은 고딕"/>
              </a:rPr>
              <a:t>운영 관점 해석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21208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맑은 고딕"/>
              </a:rPr>
              <a:t>◦ Recall 0.848 확보 → </a:t>
            </a:r>
            <a:r>
              <a:rPr sz="1000" b="1">
                <a:solidFill>
                  <a:srgbClr val="C8102E"/>
                </a:solidFill>
                <a:latin typeface="맑은 고딕"/>
              </a:rPr>
              <a:t>치명 고장 누락(FN) 66 → 18 (−72.7%)</a:t>
            </a:r>
          </a:p>
          <a:p>
            <a:r>
              <a:rPr sz="1000">
                <a:solidFill>
                  <a:srgbClr val="1A1A2E"/>
                </a:solidFill>
                <a:latin typeface="맑은 고딕"/>
              </a:rPr>
              <a:t>◦ FP는 0 → 26로 증가하나 </a:t>
            </a:r>
            <a:r>
              <a:rPr sz="1000" b="1">
                <a:solidFill>
                  <a:srgbClr val="1E2761"/>
                </a:solidFill>
                <a:latin typeface="맑은 고딕"/>
              </a:rPr>
              <a:t>Human-in-the-loop 점검 단계에서 필터 가능</a:t>
            </a:r>
          </a:p>
          <a:p>
            <a:r>
              <a:rPr sz="1000">
                <a:solidFill>
                  <a:srgbClr val="1A1A2E"/>
                </a:solidFill>
                <a:latin typeface="맑은 고딕"/>
              </a:rPr>
              <a:t>◦ 현장 도입 시 알람 피로도 대응을 위해 이원 임계값(95%/70%) 구성 권장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D4A017"/>
          </a:solidFill>
          <a:ln w="63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spc="400">
                <a:solidFill>
                  <a:srgbClr val="CADCFC"/>
                </a:solidFill>
                <a:latin typeface="맑은 고딕"/>
              </a:rPr>
              <a:t>07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결론 및 향후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760720" cy="52120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D4A017"/>
                </a:solidFill>
                <a:latin typeface="맑은 고딕"/>
              </a:rPr>
              <a:t>연구 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① Baseline 한계 원인 규명</a:t>
            </a:r>
          </a:p>
          <a:p>
            <a:r>
              <a:rPr sz="1100">
                <a:solidFill>
                  <a:srgbClr val="CADCFC"/>
                </a:solidFill>
                <a:latin typeface="맑은 고딕"/>
              </a:rPr>
              <a:t>    정상/이상 복원오차 분포의 중첩 구간에서 μ+3σ 고정 임계값이 이상 샘플을 Normal로 다수 오분류</a:t>
            </a:r>
          </a:p>
          <a:p>
            <a:r>
              <a:rPr sz="1300" b="1">
                <a:solidFill>
                  <a:srgbClr val="FFFFFF"/>
                </a:solidFill>
                <a:latin typeface="맑은 고딕"/>
              </a:rPr>
              <a:t>② Threshold 최적화 전략 효과 검증</a:t>
            </a:r>
          </a:p>
          <a:p>
            <a:r>
              <a:rPr sz="1100">
                <a:solidFill>
                  <a:srgbClr val="CADCFC"/>
                </a:solidFill>
                <a:latin typeface="맑은 고딕"/>
              </a:rPr>
              <a:t>    F1-Max(PR) 기반 Threshold 재설계로 F1 0.580 → 0.821 달성 (+41.6% 상대향상)</a:t>
            </a:r>
          </a:p>
          <a:p>
            <a:r>
              <a:rPr sz="1300" b="1">
                <a:solidFill>
                  <a:srgbClr val="FFFFFF"/>
                </a:solidFill>
                <a:latin typeface="맑은 고딕"/>
              </a:rPr>
              <a:t>③ 구조 변경 없는 성능 개선</a:t>
            </a:r>
          </a:p>
          <a:p>
            <a:r>
              <a:rPr sz="1100">
                <a:solidFill>
                  <a:srgbClr val="CADCFC"/>
                </a:solidFill>
                <a:latin typeface="맑은 고딕"/>
              </a:rPr>
              <a:t>    모델 아키텍처/학습 데이터 변경 없이 판정 경계 재설계만으로 목표 F1≥0.75 초과 달성</a:t>
            </a:r>
          </a:p>
          <a:p>
            <a:r>
              <a:rPr sz="1300" b="1">
                <a:solidFill>
                  <a:srgbClr val="FFFFFF"/>
                </a:solidFill>
                <a:latin typeface="맑은 고딕"/>
              </a:rPr>
              <a:t>④ 현장 적용 가능성 확보</a:t>
            </a:r>
          </a:p>
          <a:p>
            <a:r>
              <a:rPr sz="1100">
                <a:solidFill>
                  <a:srgbClr val="CADCFC"/>
                </a:solidFill>
                <a:latin typeface="맑은 고딕"/>
              </a:rPr>
              <a:t>    Confidence 구간 기반 이원 임계값 로직으로 Human-in-the-loop 운영 설계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097280"/>
            <a:ext cx="5120640" cy="5212080"/>
          </a:xfrm>
          <a:prstGeom prst="rect">
            <a:avLst/>
          </a:prstGeom>
          <a:solidFill>
            <a:srgbClr val="F5F7FA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2344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향후 개선 과제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1828800"/>
            <a:ext cx="365760" cy="365760"/>
          </a:xfrm>
          <a:prstGeom prst="ellipse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데이터 증강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맑은 고딕"/>
              </a:rPr>
              <a:t>SpecAugment / 화이트노이즈 삽입으로 이상 패턴 다양성 확장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670048"/>
            <a:ext cx="365760" cy="365760"/>
          </a:xfrm>
          <a:prstGeom prst="ellipse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6700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2432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Latent 고도화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944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맑은 고딕"/>
              </a:rPr>
              <a:t>Variational AE / Denoising AE로 Latent Space Separability 향상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3511296"/>
            <a:ext cx="365760" cy="365760"/>
          </a:xfrm>
          <a:prstGeom prst="ellipse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5112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65576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교차검증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85615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맑은 고딕"/>
              </a:rPr>
              <a:t>MIMII 7종 머신(valve·pump·fan·slider) 전반 일반화 실험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4352544"/>
            <a:ext cx="365760" cy="365760"/>
          </a:xfrm>
          <a:prstGeom prst="ellipse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3525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06824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Loss 재설계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626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맑은 고딕"/>
              </a:rPr>
              <a:t>SSIM / Perceptual loss 등 주파수 민감 손실 함수 도입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5193792"/>
            <a:ext cx="365760" cy="365760"/>
          </a:xfrm>
          <a:prstGeom prst="ellipse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51937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14807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맑은 고딕"/>
              </a:rPr>
              <a:t>운영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468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맑은 고딕"/>
              </a:rPr>
              <a:t>Confidence 2단 임계값 기반 알람/점검 워크플로우 배포 검증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CADCFC"/>
                </a:solidFill>
                <a:latin typeface="맑은 고딕"/>
              </a:rPr>
              <a:t>7주차 과제 결과보고서  |  학번 2025254010  송공호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836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>
                <a:solidFill>
                  <a:srgbClr val="CADCFC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1352</Words>
  <Application>Microsoft Office PowerPoint</Application>
  <PresentationFormat>와이드스크린</PresentationFormat>
  <Paragraphs>242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송 공호</dc:creator>
  <cp:keywords/>
  <dc:description>generated using python-pptx</dc:description>
  <cp:lastModifiedBy>송 공호</cp:lastModifiedBy>
  <cp:revision>2</cp:revision>
  <dcterms:created xsi:type="dcterms:W3CDTF">2013-01-27T09:14:16Z</dcterms:created>
  <dcterms:modified xsi:type="dcterms:W3CDTF">2026-04-19T02:25:14Z</dcterms:modified>
  <cp:category/>
</cp:coreProperties>
</file>