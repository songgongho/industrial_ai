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94107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-80010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-8538171"/>
            <a:ext cx="3848100" cy="1215430"/>
          </a:xfrm>
          <a:prstGeom prst="roundRect">
            <a:avLst>
              <a:gd name="adj" fmla="val 451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-8538171"/>
            <a:ext cx="3848100" cy="1215430"/>
          </a:xfrm>
          <a:prstGeom prst="roundRect">
            <a:avLst>
              <a:gd name="adj" fmla="val 451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-6835378"/>
            <a:ext cx="7924800" cy="1230709"/>
          </a:xfrm>
          <a:prstGeom prst="roundRect">
            <a:avLst>
              <a:gd name="adj" fmla="val 44579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-65913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-7327900"/>
            <a:ext cx="3848100" cy="1614488"/>
          </a:xfrm>
          <a:prstGeom prst="roundRect">
            <a:avLst>
              <a:gd name="adj" fmla="val 33982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86300" y="-7327900"/>
            <a:ext cx="3848100" cy="1614488"/>
          </a:xfrm>
          <a:prstGeom prst="roundRect">
            <a:avLst>
              <a:gd name="adj" fmla="val 33982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-5226050"/>
            <a:ext cx="7924800" cy="1230709"/>
          </a:xfrm>
          <a:prstGeom prst="roundRect">
            <a:avLst>
              <a:gd name="adj" fmla="val 44579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-51816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0" y="-37719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-4477544"/>
            <a:ext cx="3848100" cy="1189633"/>
          </a:xfrm>
          <a:prstGeom prst="roundRect">
            <a:avLst>
              <a:gd name="adj" fmla="val 4611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86300" y="-4477544"/>
            <a:ext cx="3848100" cy="1189633"/>
          </a:xfrm>
          <a:prstGeom prst="roundRect">
            <a:avLst>
              <a:gd name="adj" fmla="val 4611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600" y="-2800549"/>
            <a:ext cx="7924800" cy="1593652"/>
          </a:xfrm>
          <a:prstGeom prst="roundRect">
            <a:avLst>
              <a:gd name="adj" fmla="val 3442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0" y="-23622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0" y="-9525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46674" y="683220"/>
            <a:ext cx="2050653" cy="2359620"/>
          </a:xfrm>
          <a:prstGeom prst="roundRect">
            <a:avLst>
              <a:gd name="adj" fmla="val 26754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0" y="4572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65327" y="2020689"/>
            <a:ext cx="2013347" cy="2580283"/>
          </a:xfrm>
          <a:prstGeom prst="roundRect">
            <a:avLst>
              <a:gd name="adj" fmla="val 2725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0" y="18669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42208" y="3959821"/>
            <a:ext cx="3659584" cy="1407319"/>
          </a:xfrm>
          <a:prstGeom prst="roundRect">
            <a:avLst>
              <a:gd name="adj" fmla="val 3898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0" y="32766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167856" y="5258594"/>
            <a:ext cx="2808089" cy="1743274"/>
          </a:xfrm>
          <a:prstGeom prst="roundRect">
            <a:avLst>
              <a:gd name="adj" fmla="val 31472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0" y="46863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0" y="60960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141663" y="8275836"/>
            <a:ext cx="2860675" cy="1614488"/>
          </a:xfrm>
          <a:prstGeom prst="roundRect">
            <a:avLst>
              <a:gd name="adj" fmla="val 33982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0" y="75057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0" y="89154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04766" y="10285413"/>
            <a:ext cx="2734270" cy="2700536"/>
          </a:xfrm>
          <a:prstGeom prst="roundRect">
            <a:avLst>
              <a:gd name="adj" fmla="val 20316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0" y="103251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9600" y="8877895"/>
            <a:ext cx="7924800" cy="1380530"/>
          </a:xfrm>
          <a:prstGeom prst="roundRect">
            <a:avLst>
              <a:gd name="adj" fmla="val 3974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09600" y="10745788"/>
            <a:ext cx="7924800" cy="1199158"/>
          </a:xfrm>
          <a:prstGeom prst="roundRect">
            <a:avLst>
              <a:gd name="adj" fmla="val 45752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9600" y="12432309"/>
            <a:ext cx="7924800" cy="1199158"/>
          </a:xfrm>
          <a:prstGeom prst="roundRect">
            <a:avLst>
              <a:gd name="adj" fmla="val 45752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0" y="117348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0" y="131445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12650391"/>
            <a:ext cx="3848100" cy="1180108"/>
          </a:xfrm>
          <a:prstGeom prst="roundRect">
            <a:avLst>
              <a:gd name="adj" fmla="val 4649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86300" y="12562880"/>
            <a:ext cx="3848100" cy="1355130"/>
          </a:xfrm>
          <a:prstGeom prst="roundRect">
            <a:avLst>
              <a:gd name="adj" fmla="val 40486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09600" y="14405372"/>
            <a:ext cx="7924800" cy="1180108"/>
          </a:xfrm>
          <a:prstGeom prst="roundRect">
            <a:avLst>
              <a:gd name="adj" fmla="val 4649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0" y="14554200"/>
            <a:ext cx="9144000" cy="1219200"/>
          </a:xfrm>
          <a:prstGeom prst="rect">
            <a:avLst/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9600" y="13841611"/>
            <a:ext cx="7924800" cy="1635720"/>
          </a:xfrm>
          <a:prstGeom prst="roundRect">
            <a:avLst>
              <a:gd name="adj" fmla="val 3354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98283" y="-11566922"/>
            <a:ext cx="65472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청주 버스 이상 감지 시스템</a:t>
            </a:r>
            <a:endParaRPr lang="en-US" sz="4500" dirty="0"/>
          </a:p>
        </p:txBody>
      </p:sp>
      <p:sp>
        <p:nvSpPr>
          <p:cNvPr id="43" name="Text 41"/>
          <p:cNvSpPr/>
          <p:nvPr/>
        </p:nvSpPr>
        <p:spPr>
          <a:xfrm>
            <a:off x="2902553" y="-10728722"/>
            <a:ext cx="3338894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실시간 알람 &amp; 대응 시스템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642866" y="-10104041"/>
            <a:ext cx="3858268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스마트 시티 운영 혁신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642866" y="-9479360"/>
            <a:ext cx="3858268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데이터 기반 의사결정 | 🎯 5분 소개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762802" y="-10021689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609600" y="-9821268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상황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609600" y="-9181306"/>
            <a:ext cx="341662" cy="34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1920" dirty="0"/>
          </a:p>
        </p:txBody>
      </p:sp>
      <p:sp>
        <p:nvSpPr>
          <p:cNvPr id="49" name="Text 47"/>
          <p:cNvSpPr/>
          <p:nvPr/>
        </p:nvSpPr>
        <p:spPr>
          <a:xfrm>
            <a:off x="1096963" y="-9181306"/>
            <a:ext cx="7586187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현재의 버스 운영 문제</a:t>
            </a:r>
            <a:endParaRPr lang="en-US" sz="1140" dirty="0"/>
          </a:p>
        </p:txBody>
      </p:sp>
      <p:sp>
        <p:nvSpPr>
          <p:cNvPr id="50" name="Text 48"/>
          <p:cNvSpPr/>
          <p:nvPr/>
        </p:nvSpPr>
        <p:spPr>
          <a:xfrm>
            <a:off x="1096963" y="-8977114"/>
            <a:ext cx="7586187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폭설, 악천후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갑작스런 배차 이상 | 노선 불규칙 운행 | 승객 불만 증가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609600" y="-8673902"/>
            <a:ext cx="341662" cy="34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920" dirty="0"/>
          </a:p>
        </p:txBody>
      </p:sp>
      <p:sp>
        <p:nvSpPr>
          <p:cNvPr id="52" name="Text 50"/>
          <p:cNvSpPr/>
          <p:nvPr/>
        </p:nvSpPr>
        <p:spPr>
          <a:xfrm>
            <a:off x="1096963" y="-8673902"/>
            <a:ext cx="7586187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사후 대응의 한계</a:t>
            </a:r>
            <a:endParaRPr lang="en-US" sz="1140" dirty="0"/>
          </a:p>
        </p:txBody>
      </p:sp>
      <p:sp>
        <p:nvSpPr>
          <p:cNvPr id="53" name="Text 51"/>
          <p:cNvSpPr/>
          <p:nvPr/>
        </p:nvSpPr>
        <p:spPr>
          <a:xfrm>
            <a:off x="1096963" y="-8469710"/>
            <a:ext cx="7586187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발생 후 인지 → 대응까지 </a:t>
            </a:r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1-2시간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지연 | 비용 손실 야기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609600" y="-8166497"/>
            <a:ext cx="341662" cy="34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920" dirty="0"/>
          </a:p>
        </p:txBody>
      </p:sp>
      <p:sp>
        <p:nvSpPr>
          <p:cNvPr id="55" name="Text 53"/>
          <p:cNvSpPr/>
          <p:nvPr/>
        </p:nvSpPr>
        <p:spPr>
          <a:xfrm>
            <a:off x="1096963" y="-8166497"/>
            <a:ext cx="7586187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활용 부족</a:t>
            </a:r>
            <a:endParaRPr lang="en-US" sz="1140" dirty="0"/>
          </a:p>
        </p:txBody>
      </p:sp>
      <p:sp>
        <p:nvSpPr>
          <p:cNvPr id="56" name="Text 54"/>
          <p:cNvSpPr/>
          <p:nvPr/>
        </p:nvSpPr>
        <p:spPr>
          <a:xfrm>
            <a:off x="1096963" y="-7962305"/>
            <a:ext cx="7586187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TAGO 공공데이터 미활용 | 패턴 분석 없음 | 의사결정 근거 부족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8762802" y="-8611989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80" dirty="0"/>
          </a:p>
        </p:txBody>
      </p:sp>
      <p:sp>
        <p:nvSpPr>
          <p:cNvPr id="58" name="Text 56"/>
          <p:cNvSpPr/>
          <p:nvPr/>
        </p:nvSpPr>
        <p:spPr>
          <a:xfrm>
            <a:off x="609600" y="-9269413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솔루션: AI 이상 감지 시스템</a:t>
            </a:r>
            <a:endParaRPr lang="en-US" sz="2700" dirty="0"/>
          </a:p>
        </p:txBody>
      </p:sp>
      <p:sp>
        <p:nvSpPr>
          <p:cNvPr id="59" name="Text 57"/>
          <p:cNvSpPr/>
          <p:nvPr/>
        </p:nvSpPr>
        <p:spPr>
          <a:xfrm>
            <a:off x="830461" y="-8355410"/>
            <a:ext cx="35133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데이터 수집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30461" y="-8081169"/>
            <a:ext cx="3444478" cy="57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TAGO 공공데이터 API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115개 노선 24시간 운행 기록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날씨 데이터 (폭설, 강우)</a:t>
            </a:r>
            <a:endParaRPr lang="en-US" sz="1080" dirty="0"/>
          </a:p>
        </p:txBody>
      </p:sp>
      <p:sp>
        <p:nvSpPr>
          <p:cNvPr id="61" name="Text 59"/>
          <p:cNvSpPr/>
          <p:nvPr/>
        </p:nvSpPr>
        <p:spPr>
          <a:xfrm>
            <a:off x="4907161" y="-8355410"/>
            <a:ext cx="35133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분석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907161" y="-8081169"/>
            <a:ext cx="3444478" cy="57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KMeans 클러스터링 (5개 패턴)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IsolationForest 이상탐지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LSTM-AE 시계열 분석</a:t>
            </a:r>
            <a:endParaRPr lang="en-US" sz="1080" dirty="0"/>
          </a:p>
        </p:txBody>
      </p:sp>
      <p:sp>
        <p:nvSpPr>
          <p:cNvPr id="63" name="Text 61"/>
          <p:cNvSpPr/>
          <p:nvPr/>
        </p:nvSpPr>
        <p:spPr>
          <a:xfrm>
            <a:off x="830461" y="-6652617"/>
            <a:ext cx="767160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실시간 알람 &amp; 대응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30461" y="-6363097"/>
            <a:ext cx="7521178" cy="57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 시 자동 알람:</a:t>
            </a:r>
            <a:pPr indent="0" marL="0">
              <a:lnSpc>
                <a:spcPts val="1512"/>
              </a:lnSpc>
              <a:buNone/>
            </a:pP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이상 노선 즉시 식별 | ✓ 영향도 분류 | ✓ 추천 조치 제시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폭설 시 대응: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예비차량 배치 → 배차 조정 → 실시간 모니터링</a:t>
            </a:r>
            <a:endParaRPr lang="en-US" sz="1080" dirty="0"/>
          </a:p>
        </p:txBody>
      </p:sp>
      <p:sp>
        <p:nvSpPr>
          <p:cNvPr id="65" name="Text 63"/>
          <p:cNvSpPr/>
          <p:nvPr/>
        </p:nvSpPr>
        <p:spPr>
          <a:xfrm>
            <a:off x="8762802" y="-7202289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80" dirty="0"/>
          </a:p>
        </p:txBody>
      </p:sp>
      <p:sp>
        <p:nvSpPr>
          <p:cNvPr id="66" name="Text 64"/>
          <p:cNvSpPr/>
          <p:nvPr/>
        </p:nvSpPr>
        <p:spPr>
          <a:xfrm>
            <a:off x="609600" y="-8059142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데이터셋 구성 및 수집</a:t>
            </a:r>
            <a:endParaRPr lang="en-US" sz="2700" dirty="0"/>
          </a:p>
        </p:txBody>
      </p:sp>
      <p:sp>
        <p:nvSpPr>
          <p:cNvPr id="67" name="Text 65"/>
          <p:cNvSpPr/>
          <p:nvPr/>
        </p:nvSpPr>
        <p:spPr>
          <a:xfrm>
            <a:off x="830461" y="-7145139"/>
            <a:ext cx="35133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TAGO 버스 운행 데이터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30461" y="-6855619"/>
            <a:ext cx="3444478" cy="959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115개 노선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24시간 × 30일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노선ID, 시간대별 운행 차량 수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형식: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시간 단위 집계 데이터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2,760개 노선-날짜 조합</a:t>
            </a:r>
            <a:endParaRPr lang="en-US" sz="1080" dirty="0"/>
          </a:p>
        </p:txBody>
      </p:sp>
      <p:sp>
        <p:nvSpPr>
          <p:cNvPr id="69" name="Text 67"/>
          <p:cNvSpPr/>
          <p:nvPr/>
        </p:nvSpPr>
        <p:spPr>
          <a:xfrm>
            <a:off x="4907161" y="-7145139"/>
            <a:ext cx="35133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🌦️ 날씨 데이터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907161" y="-6855619"/>
            <a:ext cx="3444478" cy="959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폭설, 강우, 기온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같은 30일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일별 이상탐지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이상 패턴 분류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12-04 폭설 감지</a:t>
            </a:r>
            <a:endParaRPr lang="en-US" sz="1080" dirty="0"/>
          </a:p>
        </p:txBody>
      </p:sp>
      <p:sp>
        <p:nvSpPr>
          <p:cNvPr id="71" name="Text 69"/>
          <p:cNvSpPr/>
          <p:nvPr/>
        </p:nvSpPr>
        <p:spPr>
          <a:xfrm>
            <a:off x="830461" y="-5043289"/>
            <a:ext cx="767160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피처 엔지니어링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30461" y="-4753769"/>
            <a:ext cx="7521178" cy="57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시계열 피처: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시간대별 운행 차량(0-23시), 평균, 분산, 피크율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피처: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출근형/저수요형/균등형/저녁형/복합형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StandardScaler (평균=0, 표준편차=1)</a:t>
            </a:r>
            <a:endParaRPr lang="en-US" sz="1080" dirty="0"/>
          </a:p>
        </p:txBody>
      </p:sp>
      <p:sp>
        <p:nvSpPr>
          <p:cNvPr id="73" name="Text 71"/>
          <p:cNvSpPr/>
          <p:nvPr/>
        </p:nvSpPr>
        <p:spPr>
          <a:xfrm>
            <a:off x="8762802" y="-5792589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80" dirty="0"/>
          </a:p>
        </p:txBody>
      </p:sp>
      <p:sp>
        <p:nvSpPr>
          <p:cNvPr id="74" name="Text 72"/>
          <p:cNvSpPr/>
          <p:nvPr/>
        </p:nvSpPr>
        <p:spPr>
          <a:xfrm>
            <a:off x="609600" y="-6018213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기술 아키텍처 &amp; 알고리즘</a:t>
            </a:r>
            <a:endParaRPr lang="en-US" sz="2700" dirty="0"/>
          </a:p>
        </p:txBody>
      </p:sp>
      <p:sp>
        <p:nvSpPr>
          <p:cNvPr id="75" name="Text 73"/>
          <p:cNvSpPr/>
          <p:nvPr/>
        </p:nvSpPr>
        <p:spPr>
          <a:xfrm>
            <a:off x="2280841" y="-4382889"/>
            <a:ext cx="50682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</a:t>
            </a:r>
            <a:endParaRPr lang="en-US" sz="1020" dirty="0"/>
          </a:p>
        </p:txBody>
      </p:sp>
      <p:sp>
        <p:nvSpPr>
          <p:cNvPr id="76" name="Text 74"/>
          <p:cNvSpPr/>
          <p:nvPr/>
        </p:nvSpPr>
        <p:spPr>
          <a:xfrm>
            <a:off x="6236693" y="-4370189"/>
            <a:ext cx="1436072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운행 패턴 자동 분류</a:t>
            </a:r>
            <a:endParaRPr lang="en-US" sz="1020" dirty="0"/>
          </a:p>
        </p:txBody>
      </p:sp>
      <p:sp>
        <p:nvSpPr>
          <p:cNvPr id="77" name="Text 75"/>
          <p:cNvSpPr/>
          <p:nvPr/>
        </p:nvSpPr>
        <p:spPr>
          <a:xfrm>
            <a:off x="2280841" y="-4027289"/>
            <a:ext cx="866704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IsolationForest</a:t>
            </a:r>
            <a:endParaRPr lang="en-US" sz="1020" dirty="0"/>
          </a:p>
        </p:txBody>
      </p:sp>
      <p:sp>
        <p:nvSpPr>
          <p:cNvPr id="78" name="Text 76"/>
          <p:cNvSpPr/>
          <p:nvPr/>
        </p:nvSpPr>
        <p:spPr>
          <a:xfrm>
            <a:off x="6236693" y="-4014589"/>
            <a:ext cx="122557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10% 비정상 탐지</a:t>
            </a:r>
            <a:endParaRPr lang="en-US" sz="1020" dirty="0"/>
          </a:p>
        </p:txBody>
      </p:sp>
      <p:sp>
        <p:nvSpPr>
          <p:cNvPr id="79" name="Text 77"/>
          <p:cNvSpPr/>
          <p:nvPr/>
        </p:nvSpPr>
        <p:spPr>
          <a:xfrm>
            <a:off x="8640961" y="-4382889"/>
            <a:ext cx="2022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4-2</a:t>
            </a:r>
            <a:endParaRPr lang="en-US" sz="1080" dirty="0"/>
          </a:p>
        </p:txBody>
      </p:sp>
      <p:sp>
        <p:nvSpPr>
          <p:cNvPr id="80" name="Text 78"/>
          <p:cNvSpPr/>
          <p:nvPr/>
        </p:nvSpPr>
        <p:spPr>
          <a:xfrm>
            <a:off x="609600" y="-520878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실제 분석 결과 (115개 노선)</a:t>
            </a:r>
            <a:endParaRPr lang="en-US" sz="2700" dirty="0"/>
          </a:p>
        </p:txBody>
      </p:sp>
      <p:sp>
        <p:nvSpPr>
          <p:cNvPr id="81" name="Text 79"/>
          <p:cNvSpPr/>
          <p:nvPr/>
        </p:nvSpPr>
        <p:spPr>
          <a:xfrm>
            <a:off x="830461" y="-4294783"/>
            <a:ext cx="35133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정상 노선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830461" y="-4020542"/>
            <a:ext cx="351336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103개 (89.6%)</a:t>
            </a:r>
            <a:endParaRPr lang="en-US" sz="1560" dirty="0"/>
          </a:p>
        </p:txBody>
      </p:sp>
      <p:sp>
        <p:nvSpPr>
          <p:cNvPr id="83" name="Text 81"/>
          <p:cNvSpPr/>
          <p:nvPr/>
        </p:nvSpPr>
        <p:spPr>
          <a:xfrm>
            <a:off x="830461" y="-3662561"/>
            <a:ext cx="3513368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일반적 운영 패턴</a:t>
            </a:r>
            <a:endParaRPr lang="en-US" sz="1080" dirty="0"/>
          </a:p>
        </p:txBody>
      </p:sp>
      <p:sp>
        <p:nvSpPr>
          <p:cNvPr id="84" name="Text 82"/>
          <p:cNvSpPr/>
          <p:nvPr/>
        </p:nvSpPr>
        <p:spPr>
          <a:xfrm>
            <a:off x="4907161" y="-4294783"/>
            <a:ext cx="35133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이상 노선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4907161" y="-4020542"/>
            <a:ext cx="351336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(10.4%)</a:t>
            </a:r>
            <a:endParaRPr lang="en-US" sz="1560" dirty="0"/>
          </a:p>
        </p:txBody>
      </p:sp>
      <p:sp>
        <p:nvSpPr>
          <p:cNvPr id="86" name="Text 84"/>
          <p:cNvSpPr/>
          <p:nvPr/>
        </p:nvSpPr>
        <p:spPr>
          <a:xfrm>
            <a:off x="4907161" y="-3662561"/>
            <a:ext cx="3513368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개선 필요</a:t>
            </a:r>
            <a:endParaRPr lang="en-US" sz="1080" dirty="0"/>
          </a:p>
        </p:txBody>
      </p:sp>
      <p:sp>
        <p:nvSpPr>
          <p:cNvPr id="87" name="Text 85"/>
          <p:cNvSpPr/>
          <p:nvPr/>
        </p:nvSpPr>
        <p:spPr>
          <a:xfrm>
            <a:off x="830461" y="-2617788"/>
            <a:ext cx="767160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클러스터 분포 (KMeans n=5)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830461" y="-2328267"/>
            <a:ext cx="7521178" cy="938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8"/>
              </a:lnSpc>
              <a:buNone/>
            </a:pPr>
            <a:r>
              <a:rPr lang="en-US" sz="1056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 (출근형, 6개):</a:t>
            </a:r>
            <a:pPr indent="0" marL="0">
              <a:lnSpc>
                <a:spcPts val="1478"/>
              </a:lnSpc>
              <a:buNone/>
            </a:pPr>
            <a:r>
              <a:rPr lang="en-US" sz="1056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100, 101, 102번 | 6-9시 피크</a:t>
            </a:r>
            <a:endParaRPr lang="en-US" sz="1056" dirty="0"/>
          </a:p>
          <a:p>
            <a:pPr indent="0" marL="0">
              <a:lnSpc>
                <a:spcPts val="1478"/>
              </a:lnSpc>
              <a:buNone/>
            </a:pPr>
            <a:r>
              <a:rPr lang="en-US" sz="1056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6" dirty="0"/>
          </a:p>
          <a:p>
            <a:pPr indent="0" marL="0">
              <a:lnSpc>
                <a:spcPts val="1478"/>
              </a:lnSpc>
              <a:buNone/>
            </a:pPr>
            <a:r>
              <a:rPr lang="en-US" sz="1056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 (저수요, 5개):</a:t>
            </a:r>
            <a:pPr indent="0" marL="0">
              <a:lnSpc>
                <a:spcPts val="1478"/>
              </a:lnSpc>
              <a:buNone/>
            </a:pPr>
            <a:r>
              <a:rPr lang="en-US" sz="1056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500, 501, 502, 503, 504번 | 평균 2.5~3.5대</a:t>
            </a:r>
            <a:endParaRPr lang="en-US" sz="1056" dirty="0"/>
          </a:p>
          <a:p>
            <a:pPr indent="0" marL="0">
              <a:lnSpc>
                <a:spcPts val="1478"/>
              </a:lnSpc>
              <a:buNone/>
            </a:pPr>
            <a:r>
              <a:rPr lang="en-US" sz="1056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6" dirty="0"/>
          </a:p>
          <a:p>
            <a:pPr indent="0" marL="0">
              <a:lnSpc>
                <a:spcPts val="1478"/>
              </a:lnSpc>
              <a:buNone/>
            </a:pPr>
            <a:r>
              <a:rPr lang="en-US" sz="1056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 (균등형, 1개):</a:t>
            </a:r>
            <a:pPr indent="0" marL="0">
              <a:lnSpc>
                <a:spcPts val="1478"/>
              </a:lnSpc>
              <a:buNone/>
            </a:pPr>
            <a:r>
              <a:rPr lang="en-US" sz="1056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600번 | 안정적 장거리</a:t>
            </a:r>
            <a:endParaRPr lang="en-US" sz="1056" dirty="0"/>
          </a:p>
          <a:p>
            <a:pPr indent="0" marL="0">
              <a:lnSpc>
                <a:spcPts val="1478"/>
              </a:lnSpc>
              <a:buNone/>
            </a:pPr>
            <a:r>
              <a:rPr lang="en-US" sz="1056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6" dirty="0"/>
          </a:p>
          <a:p>
            <a:pPr indent="0" marL="0">
              <a:lnSpc>
                <a:spcPts val="1478"/>
              </a:lnSpc>
              <a:buNone/>
            </a:pPr>
            <a:r>
              <a:rPr lang="en-US" sz="1056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 (저녁형, 103개):</a:t>
            </a:r>
            <a:pPr indent="0" marL="0">
              <a:lnSpc>
                <a:spcPts val="1478"/>
              </a:lnSpc>
              <a:buNone/>
            </a:pPr>
            <a:r>
              <a:rPr lang="en-US" sz="1056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대부분 노선 | 17-20시 피크</a:t>
            </a:r>
            <a:endParaRPr lang="en-US" sz="1056" dirty="0"/>
          </a:p>
          <a:p>
            <a:pPr indent="0" marL="0">
              <a:lnSpc>
                <a:spcPts val="1478"/>
              </a:lnSpc>
              <a:buNone/>
            </a:pPr>
            <a:r>
              <a:rPr lang="en-US" sz="1056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6" dirty="0"/>
          </a:p>
          <a:p>
            <a:pPr indent="0" marL="0">
              <a:lnSpc>
                <a:spcPts val="1478"/>
              </a:lnSpc>
              <a:buNone/>
            </a:pPr>
            <a:r>
              <a:rPr lang="en-US" sz="1056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 (복합형, 3개):</a:t>
            </a:r>
            <a:pPr indent="0" marL="0">
              <a:lnSpc>
                <a:spcPts val="1478"/>
              </a:lnSpc>
              <a:buNone/>
            </a:pPr>
            <a:r>
              <a:rPr lang="en-US" sz="1056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 2, 3번 | 다양한 변동</a:t>
            </a:r>
            <a:endParaRPr lang="en-US" sz="1056" dirty="0"/>
          </a:p>
        </p:txBody>
      </p:sp>
      <p:sp>
        <p:nvSpPr>
          <p:cNvPr id="89" name="Text 87"/>
          <p:cNvSpPr/>
          <p:nvPr/>
        </p:nvSpPr>
        <p:spPr>
          <a:xfrm>
            <a:off x="8762802" y="-2973189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80" dirty="0"/>
          </a:p>
        </p:txBody>
      </p:sp>
      <p:sp>
        <p:nvSpPr>
          <p:cNvPr id="90" name="Text 88"/>
          <p:cNvSpPr/>
          <p:nvPr/>
        </p:nvSpPr>
        <p:spPr>
          <a:xfrm>
            <a:off x="609600" y="-3708202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상위 12개 이상 노선 (IsolationForest)</a:t>
            </a:r>
            <a:endParaRPr lang="en-US" sz="2700" dirty="0"/>
          </a:p>
        </p:txBody>
      </p:sp>
      <p:sp>
        <p:nvSpPr>
          <p:cNvPr id="91" name="Text 89"/>
          <p:cNvSpPr/>
          <p:nvPr/>
        </p:nvSpPr>
        <p:spPr>
          <a:xfrm>
            <a:off x="609600" y="32544"/>
            <a:ext cx="8083296" cy="1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 범위:</a:t>
            </a:r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-0.744(최악) ~ -0.641(경미) | 평균: -0.425</a:t>
            </a:r>
            <a:endParaRPr lang="en-US" sz="960" dirty="0"/>
          </a:p>
        </p:txBody>
      </p:sp>
      <p:sp>
        <p:nvSpPr>
          <p:cNvPr id="92" name="Text 90"/>
          <p:cNvSpPr/>
          <p:nvPr/>
        </p:nvSpPr>
        <p:spPr>
          <a:xfrm>
            <a:off x="8640961" y="-1563489"/>
            <a:ext cx="2022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5-2</a:t>
            </a:r>
            <a:endParaRPr lang="en-US" sz="1080" dirty="0"/>
          </a:p>
        </p:txBody>
      </p:sp>
      <p:sp>
        <p:nvSpPr>
          <p:cNvPr id="93" name="Text 91"/>
          <p:cNvSpPr/>
          <p:nvPr/>
        </p:nvSpPr>
        <p:spPr>
          <a:xfrm>
            <a:off x="609600" y="-3819922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상위 이상 노선 시각화</a:t>
            </a:r>
            <a:endParaRPr lang="en-US" sz="2700" dirty="0"/>
          </a:p>
        </p:txBody>
      </p:sp>
      <p:sp>
        <p:nvSpPr>
          <p:cNvPr id="94" name="Text 92"/>
          <p:cNvSpPr/>
          <p:nvPr/>
        </p:nvSpPr>
        <p:spPr>
          <a:xfrm>
            <a:off x="3767535" y="865981"/>
            <a:ext cx="167997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Top 10 이상 노선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3767535" y="1155502"/>
            <a:ext cx="1647031" cy="170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최악:</a:t>
            </a:r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CJB270012000 (-0.744)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간선 100번 (배차 극도 불규칙)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5:</a:t>
            </a:r>
            <a:pPr indent="0" marL="0">
              <a:lnSpc>
                <a:spcPts val="1344"/>
              </a:lnSpc>
              <a:buNone/>
            </a:pP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100, 101번 (간선)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500, 501번 (지선)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1번 (시내)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원인:</a:t>
            </a:r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배차 불규칙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(악천후/운전자부족)</a:t>
            </a:r>
            <a:endParaRPr lang="en-US" sz="960" dirty="0"/>
          </a:p>
        </p:txBody>
      </p:sp>
      <p:sp>
        <p:nvSpPr>
          <p:cNvPr id="96" name="Text 94"/>
          <p:cNvSpPr/>
          <p:nvPr/>
        </p:nvSpPr>
        <p:spPr>
          <a:xfrm>
            <a:off x="8640961" y="-153789"/>
            <a:ext cx="2022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5-3</a:t>
            </a:r>
            <a:endParaRPr lang="en-US" sz="1080" dirty="0"/>
          </a:p>
        </p:txBody>
      </p:sp>
      <p:sp>
        <p:nvSpPr>
          <p:cNvPr id="97" name="Text 95"/>
          <p:cNvSpPr/>
          <p:nvPr/>
        </p:nvSpPr>
        <p:spPr>
          <a:xfrm>
            <a:off x="609600" y="-2558653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폭설 이상 감지 사례 (12-04 vs 12-05)</a:t>
            </a:r>
            <a:endParaRPr lang="en-US" sz="2700" dirty="0"/>
          </a:p>
        </p:txBody>
      </p:sp>
      <p:sp>
        <p:nvSpPr>
          <p:cNvPr id="98" name="Text 96"/>
          <p:cNvSpPr/>
          <p:nvPr/>
        </p:nvSpPr>
        <p:spPr>
          <a:xfrm>
            <a:off x="3786188" y="2203450"/>
            <a:ext cx="164192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12-04 폭설 감지 결과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3786188" y="2492971"/>
            <a:ext cx="1609725" cy="1925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84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감지된 이상:</a:t>
            </a:r>
            <a:pPr indent="0" marL="0">
              <a:lnSpc>
                <a:spcPts val="1378"/>
              </a:lnSpc>
              <a:buNone/>
            </a:pP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CJB270012000 (100번)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CJB270012700번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패턴:</a:t>
            </a:r>
            <a:pPr indent="0" marL="0">
              <a:lnSpc>
                <a:spcPts val="1378"/>
              </a:lnSpc>
              <a:buNone/>
            </a:pP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폭설 시 운행 차량 급감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시간대별 불규칙 배차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</a:t>
            </a:r>
            <a:pPr indent="0" marL="0">
              <a:lnSpc>
                <a:spcPts val="1378"/>
              </a:lnSpc>
              <a:buNone/>
            </a:pP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예비차량 배치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배차 신뢰도 ↑15%</a:t>
            </a:r>
            <a:endParaRPr lang="en-US" sz="984" dirty="0"/>
          </a:p>
        </p:txBody>
      </p:sp>
      <p:sp>
        <p:nvSpPr>
          <p:cNvPr id="100" name="Text 98"/>
          <p:cNvSpPr/>
          <p:nvPr/>
        </p:nvSpPr>
        <p:spPr>
          <a:xfrm>
            <a:off x="8762802" y="1255911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80" dirty="0"/>
          </a:p>
        </p:txBody>
      </p:sp>
      <p:sp>
        <p:nvSpPr>
          <p:cNvPr id="101" name="Text 99"/>
          <p:cNvSpPr/>
          <p:nvPr/>
        </p:nvSpPr>
        <p:spPr>
          <a:xfrm>
            <a:off x="609600" y="-505222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이상 노선 상세 분석: 실제 vs 클러스터 평균</a:t>
            </a:r>
            <a:endParaRPr lang="en-US" sz="2700" dirty="0"/>
          </a:p>
        </p:txBody>
      </p:sp>
      <p:sp>
        <p:nvSpPr>
          <p:cNvPr id="102" name="Text 100"/>
          <p:cNvSpPr/>
          <p:nvPr/>
        </p:nvSpPr>
        <p:spPr>
          <a:xfrm>
            <a:off x="2963069" y="4142581"/>
            <a:ext cx="332108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500번 노선 분석 (CJB270015100)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2963069" y="4416822"/>
            <a:ext cx="3255963" cy="76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좌측: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실제 운행 패턴 (점선) vs 이상점수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우측: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클러스터 5.0 평균 패턴과의 비교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시간대별 편차 큼 (4~10대 변동) | 불규칙한 배차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개선안: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정규적 배차표 적용 시 약 ₩3,500만/년 절감 가능</a:t>
            </a:r>
            <a:endParaRPr lang="en-US" sz="1080" dirty="0"/>
          </a:p>
        </p:txBody>
      </p:sp>
      <p:sp>
        <p:nvSpPr>
          <p:cNvPr id="104" name="Text 102"/>
          <p:cNvSpPr/>
          <p:nvPr/>
        </p:nvSpPr>
        <p:spPr>
          <a:xfrm>
            <a:off x="8640961" y="2665611"/>
            <a:ext cx="2022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</a:t>
            </a:r>
            <a:endParaRPr lang="en-US" sz="1080" dirty="0"/>
          </a:p>
        </p:txBody>
      </p:sp>
      <p:sp>
        <p:nvSpPr>
          <p:cNvPr id="105" name="Text 103"/>
          <p:cNvSpPr/>
          <p:nvPr/>
        </p:nvSpPr>
        <p:spPr>
          <a:xfrm>
            <a:off x="609600" y="679252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실제 분석 결과: 이상점수 분포</a:t>
            </a:r>
            <a:endParaRPr lang="en-US" sz="2700" dirty="0"/>
          </a:p>
        </p:txBody>
      </p:sp>
      <p:sp>
        <p:nvSpPr>
          <p:cNvPr id="106" name="Text 104"/>
          <p:cNvSpPr/>
          <p:nvPr/>
        </p:nvSpPr>
        <p:spPr>
          <a:xfrm>
            <a:off x="3388717" y="5441355"/>
            <a:ext cx="245255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IsolationForest 이상점수 분포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3388717" y="5730875"/>
            <a:ext cx="2404467" cy="1088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범위: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-0.45 ~ -0.48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범위: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-0.58 ~ -0.50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-0.52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표준편차: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0.03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정규분포 형태로 명확한 이상 구분 가능</a:t>
            </a:r>
            <a:endParaRPr lang="en-US" sz="1020" dirty="0"/>
          </a:p>
        </p:txBody>
      </p:sp>
      <p:sp>
        <p:nvSpPr>
          <p:cNvPr id="108" name="Text 106"/>
          <p:cNvSpPr/>
          <p:nvPr/>
        </p:nvSpPr>
        <p:spPr>
          <a:xfrm>
            <a:off x="8640961" y="4075311"/>
            <a:ext cx="2022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6-2</a:t>
            </a:r>
            <a:endParaRPr lang="en-US" sz="1080" dirty="0"/>
          </a:p>
        </p:txBody>
      </p:sp>
      <p:sp>
        <p:nvSpPr>
          <p:cNvPr id="109" name="Text 107"/>
          <p:cNvSpPr/>
          <p:nvPr/>
        </p:nvSpPr>
        <p:spPr>
          <a:xfrm>
            <a:off x="609600" y="3790752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알고리즘 성능 비교</a:t>
            </a:r>
            <a:endParaRPr lang="en-US" sz="2700" dirty="0"/>
          </a:p>
        </p:txBody>
      </p:sp>
      <p:sp>
        <p:nvSpPr>
          <p:cNvPr id="110" name="Text 108"/>
          <p:cNvSpPr/>
          <p:nvPr/>
        </p:nvSpPr>
        <p:spPr>
          <a:xfrm>
            <a:off x="5840810" y="5051425"/>
            <a:ext cx="2481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984" dirty="0"/>
          </a:p>
        </p:txBody>
      </p:sp>
      <p:sp>
        <p:nvSpPr>
          <p:cNvPr id="111" name="Text 109"/>
          <p:cNvSpPr/>
          <p:nvPr/>
        </p:nvSpPr>
        <p:spPr>
          <a:xfrm>
            <a:off x="4654153" y="5394325"/>
            <a:ext cx="2481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84" dirty="0"/>
          </a:p>
        </p:txBody>
      </p:sp>
      <p:sp>
        <p:nvSpPr>
          <p:cNvPr id="112" name="Text 110"/>
          <p:cNvSpPr/>
          <p:nvPr/>
        </p:nvSpPr>
        <p:spPr>
          <a:xfrm>
            <a:off x="5840810" y="5394325"/>
            <a:ext cx="318992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</a:t>
            </a:r>
            <a:endParaRPr lang="en-US" sz="984" dirty="0"/>
          </a:p>
        </p:txBody>
      </p:sp>
      <p:sp>
        <p:nvSpPr>
          <p:cNvPr id="113" name="Text 111"/>
          <p:cNvSpPr/>
          <p:nvPr/>
        </p:nvSpPr>
        <p:spPr>
          <a:xfrm>
            <a:off x="7423150" y="5400675"/>
            <a:ext cx="504599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성능</a:t>
            </a:r>
            <a:endParaRPr lang="en-US" sz="984" dirty="0"/>
          </a:p>
        </p:txBody>
      </p:sp>
      <p:sp>
        <p:nvSpPr>
          <p:cNvPr id="114" name="Text 112"/>
          <p:cNvSpPr/>
          <p:nvPr/>
        </p:nvSpPr>
        <p:spPr>
          <a:xfrm>
            <a:off x="2280841" y="5826125"/>
            <a:ext cx="255234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84" dirty="0"/>
          </a:p>
        </p:txBody>
      </p:sp>
      <p:sp>
        <p:nvSpPr>
          <p:cNvPr id="115" name="Text 113"/>
          <p:cNvSpPr/>
          <p:nvPr/>
        </p:nvSpPr>
        <p:spPr>
          <a:xfrm>
            <a:off x="3467497" y="5826125"/>
            <a:ext cx="255234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984" dirty="0"/>
          </a:p>
        </p:txBody>
      </p:sp>
      <p:sp>
        <p:nvSpPr>
          <p:cNvPr id="116" name="Text 114"/>
          <p:cNvSpPr/>
          <p:nvPr/>
        </p:nvSpPr>
        <p:spPr>
          <a:xfrm>
            <a:off x="4654153" y="5826125"/>
            <a:ext cx="2481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984" dirty="0"/>
          </a:p>
        </p:txBody>
      </p:sp>
      <p:sp>
        <p:nvSpPr>
          <p:cNvPr id="117" name="Text 115"/>
          <p:cNvSpPr/>
          <p:nvPr/>
        </p:nvSpPr>
        <p:spPr>
          <a:xfrm>
            <a:off x="5840810" y="5826125"/>
            <a:ext cx="2481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984" dirty="0"/>
          </a:p>
        </p:txBody>
      </p:sp>
      <p:sp>
        <p:nvSpPr>
          <p:cNvPr id="118" name="Text 116"/>
          <p:cNvSpPr/>
          <p:nvPr/>
        </p:nvSpPr>
        <p:spPr>
          <a:xfrm>
            <a:off x="609600" y="6619875"/>
            <a:ext cx="8083296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실시간 감지는 IsolationForest (빠름) + 사후 검증은 LSTM-AE (정확) | 앙상블로 최종 판정</a:t>
            </a:r>
            <a:endParaRPr lang="en-US" sz="1020" dirty="0"/>
          </a:p>
        </p:txBody>
      </p:sp>
      <p:sp>
        <p:nvSpPr>
          <p:cNvPr id="119" name="Text 117"/>
          <p:cNvSpPr/>
          <p:nvPr/>
        </p:nvSpPr>
        <p:spPr>
          <a:xfrm>
            <a:off x="8640961" y="5485011"/>
            <a:ext cx="2022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6-3</a:t>
            </a:r>
            <a:endParaRPr lang="en-US" sz="1080" dirty="0"/>
          </a:p>
        </p:txBody>
      </p:sp>
      <p:sp>
        <p:nvSpPr>
          <p:cNvPr id="120" name="Text 118"/>
          <p:cNvSpPr/>
          <p:nvPr/>
        </p:nvSpPr>
        <p:spPr>
          <a:xfrm>
            <a:off x="609600" y="3429794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클러스터 분석: 5가지 운행 패턴</a:t>
            </a:r>
            <a:endParaRPr lang="en-US" sz="2700" dirty="0"/>
          </a:p>
        </p:txBody>
      </p:sp>
      <p:sp>
        <p:nvSpPr>
          <p:cNvPr id="121" name="Text 119"/>
          <p:cNvSpPr/>
          <p:nvPr/>
        </p:nvSpPr>
        <p:spPr>
          <a:xfrm>
            <a:off x="3362524" y="8458597"/>
            <a:ext cx="250619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5가지 패턴 정의</a:t>
            </a:r>
            <a:endParaRPr lang="en-US" sz="1200" dirty="0"/>
          </a:p>
        </p:txBody>
      </p:sp>
      <p:sp>
        <p:nvSpPr>
          <p:cNvPr id="122" name="Text 120"/>
          <p:cNvSpPr/>
          <p:nvPr/>
        </p:nvSpPr>
        <p:spPr>
          <a:xfrm>
            <a:off x="3362524" y="8748117"/>
            <a:ext cx="2457053" cy="959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 (출근형):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6-9시 급증 | 100, 101, 102번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(저수요):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전일 저운행 | 500~504번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(균등형):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안정적 | 600번 광역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(저녁형):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17-20시 피크 | 103개 노선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(복합형):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다양한 변동 | 1, 2, 3번</a:t>
            </a:r>
            <a:endParaRPr lang="en-US" sz="1080" dirty="0"/>
          </a:p>
        </p:txBody>
      </p:sp>
      <p:sp>
        <p:nvSpPr>
          <p:cNvPr id="123" name="Text 121"/>
          <p:cNvSpPr/>
          <p:nvPr/>
        </p:nvSpPr>
        <p:spPr>
          <a:xfrm>
            <a:off x="8640961" y="6894711"/>
            <a:ext cx="2022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6-4</a:t>
            </a:r>
            <a:endParaRPr lang="en-US" sz="1080" dirty="0"/>
          </a:p>
        </p:txBody>
      </p:sp>
      <p:sp>
        <p:nvSpPr>
          <p:cNvPr id="124" name="Text 122"/>
          <p:cNvSpPr/>
          <p:nvPr/>
        </p:nvSpPr>
        <p:spPr>
          <a:xfrm>
            <a:off x="609600" y="636150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정량적 기대 효과</a:t>
            </a:r>
            <a:endParaRPr lang="en-US" sz="2700" dirty="0"/>
          </a:p>
        </p:txBody>
      </p:sp>
      <p:sp>
        <p:nvSpPr>
          <p:cNvPr id="125" name="Text 123"/>
          <p:cNvSpPr/>
          <p:nvPr/>
        </p:nvSpPr>
        <p:spPr>
          <a:xfrm>
            <a:off x="5445522" y="7622183"/>
            <a:ext cx="354413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23%</a:t>
            </a:r>
            <a:endParaRPr lang="en-US" sz="984" dirty="0"/>
          </a:p>
        </p:txBody>
      </p:sp>
      <p:sp>
        <p:nvSpPr>
          <p:cNvPr id="126" name="Text 124"/>
          <p:cNvSpPr/>
          <p:nvPr/>
        </p:nvSpPr>
        <p:spPr>
          <a:xfrm>
            <a:off x="5445522" y="7965083"/>
            <a:ext cx="354413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23%</a:t>
            </a:r>
            <a:endParaRPr lang="en-US" sz="984" dirty="0"/>
          </a:p>
        </p:txBody>
      </p:sp>
      <p:sp>
        <p:nvSpPr>
          <p:cNvPr id="127" name="Text 125"/>
          <p:cNvSpPr/>
          <p:nvPr/>
        </p:nvSpPr>
        <p:spPr>
          <a:xfrm>
            <a:off x="5445522" y="8307983"/>
            <a:ext cx="354413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26%</a:t>
            </a:r>
            <a:endParaRPr lang="en-US" sz="984" dirty="0"/>
          </a:p>
        </p:txBody>
      </p:sp>
      <p:sp>
        <p:nvSpPr>
          <p:cNvPr id="128" name="Text 126"/>
          <p:cNvSpPr/>
          <p:nvPr/>
        </p:nvSpPr>
        <p:spPr>
          <a:xfrm>
            <a:off x="5445522" y="8650883"/>
            <a:ext cx="354413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25%</a:t>
            </a:r>
            <a:endParaRPr lang="en-US" sz="984" dirty="0"/>
          </a:p>
        </p:txBody>
      </p:sp>
      <p:sp>
        <p:nvSpPr>
          <p:cNvPr id="129" name="Text 127"/>
          <p:cNvSpPr/>
          <p:nvPr/>
        </p:nvSpPr>
        <p:spPr>
          <a:xfrm>
            <a:off x="7027863" y="8657233"/>
            <a:ext cx="564511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2.5억원/년</a:t>
            </a:r>
            <a:endParaRPr lang="en-US" sz="984" dirty="0"/>
          </a:p>
        </p:txBody>
      </p:sp>
      <p:sp>
        <p:nvSpPr>
          <p:cNvPr id="130" name="Text 128"/>
          <p:cNvSpPr/>
          <p:nvPr/>
        </p:nvSpPr>
        <p:spPr>
          <a:xfrm>
            <a:off x="5445522" y="9000133"/>
            <a:ext cx="45824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6"/>
              </a:lnSpc>
              <a:buNone/>
            </a:pPr>
            <a:r>
              <a:rPr lang="en-US" sz="984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5배 단축</a:t>
            </a:r>
            <a:endParaRPr lang="en-US" sz="984" dirty="0"/>
          </a:p>
        </p:txBody>
      </p:sp>
      <p:sp>
        <p:nvSpPr>
          <p:cNvPr id="131" name="Text 129"/>
          <p:cNvSpPr/>
          <p:nvPr/>
        </p:nvSpPr>
        <p:spPr>
          <a:xfrm>
            <a:off x="609600" y="9698633"/>
            <a:ext cx="8083296" cy="1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절감 출처:</a:t>
            </a:r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간선 100~102번 배차 최적화 (5,500만원) + 지선 500~504번 노선 통합 (8,500만원) + 시내/광역 1,2,3,600번 (4,500만원)</a:t>
            </a:r>
            <a:endParaRPr lang="en-US" sz="960" dirty="0"/>
          </a:p>
        </p:txBody>
      </p:sp>
      <p:sp>
        <p:nvSpPr>
          <p:cNvPr id="132" name="Text 130"/>
          <p:cNvSpPr/>
          <p:nvPr/>
        </p:nvSpPr>
        <p:spPr>
          <a:xfrm>
            <a:off x="8762802" y="8304411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80" dirty="0"/>
          </a:p>
        </p:txBody>
      </p:sp>
      <p:sp>
        <p:nvSpPr>
          <p:cNvPr id="133" name="Text 131"/>
          <p:cNvSpPr/>
          <p:nvPr/>
        </p:nvSpPr>
        <p:spPr>
          <a:xfrm>
            <a:off x="609600" y="597277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이상 노선 실제 운행 패턴 (24시간)</a:t>
            </a:r>
            <a:endParaRPr lang="en-US" sz="2700" dirty="0"/>
          </a:p>
        </p:txBody>
      </p:sp>
      <p:sp>
        <p:nvSpPr>
          <p:cNvPr id="134" name="Text 132"/>
          <p:cNvSpPr/>
          <p:nvPr/>
        </p:nvSpPr>
        <p:spPr>
          <a:xfrm>
            <a:off x="3425627" y="10468174"/>
            <a:ext cx="237726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100번 노선 (최악 이상도 -0.744)</a:t>
            </a:r>
            <a:endParaRPr lang="en-US" sz="1200" dirty="0"/>
          </a:p>
        </p:txBody>
      </p:sp>
      <p:sp>
        <p:nvSpPr>
          <p:cNvPr id="135" name="Text 133"/>
          <p:cNvSpPr/>
          <p:nvPr/>
        </p:nvSpPr>
        <p:spPr>
          <a:xfrm>
            <a:off x="3425627" y="10757695"/>
            <a:ext cx="2330648" cy="2045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문제점:</a:t>
            </a:r>
            <a:pPr indent="0" marL="0">
              <a:lnSpc>
                <a:spcPts val="1344"/>
              </a:lnSpc>
              <a:buNone/>
            </a:pP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6-9시 출근 시간 급증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시간대별 편차 극대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18시 이후 급락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원인:</a:t>
            </a:r>
            <a:pPr indent="0" marL="0">
              <a:lnSpc>
                <a:spcPts val="1344"/>
              </a:lnSpc>
              <a:buNone/>
            </a:pP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운전자 부족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교대 일정 불일치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예비차량 부족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효과:</a:t>
            </a:r>
            <a:pPr indent="0" marL="0">
              <a:lnSpc>
                <a:spcPts val="1344"/>
              </a:lnSpc>
              <a:buNone/>
            </a:pPr>
            <a:endParaRPr lang="en-US" sz="960" dirty="0"/>
          </a:p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₩5,500만/년 절감</a:t>
            </a:r>
            <a:endParaRPr lang="en-US" sz="960" dirty="0"/>
          </a:p>
        </p:txBody>
      </p:sp>
      <p:sp>
        <p:nvSpPr>
          <p:cNvPr id="136" name="Text 134"/>
          <p:cNvSpPr/>
          <p:nvPr/>
        </p:nvSpPr>
        <p:spPr>
          <a:xfrm>
            <a:off x="8640961" y="9714111"/>
            <a:ext cx="2022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7-2</a:t>
            </a:r>
            <a:endParaRPr lang="en-US" sz="1080" dirty="0"/>
          </a:p>
        </p:txBody>
      </p:sp>
      <p:sp>
        <p:nvSpPr>
          <p:cNvPr id="137" name="Text 135"/>
          <p:cNvSpPr/>
          <p:nvPr/>
        </p:nvSpPr>
        <p:spPr>
          <a:xfrm>
            <a:off x="609600" y="8146653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확대 및 향후 계획</a:t>
            </a:r>
            <a:endParaRPr lang="en-US" sz="2700" dirty="0"/>
          </a:p>
        </p:txBody>
      </p:sp>
      <p:sp>
        <p:nvSpPr>
          <p:cNvPr id="138" name="Text 136"/>
          <p:cNvSpPr/>
          <p:nvPr/>
        </p:nvSpPr>
        <p:spPr>
          <a:xfrm>
            <a:off x="830461" y="9060656"/>
            <a:ext cx="767160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Phase 1: 청주시 (현재 진행)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830461" y="9350177"/>
            <a:ext cx="7521178" cy="72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115개 노선 × 24시간 × 30일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KMeans(5) + IsolationForest + LSTM-AE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AUROC 0.89~0.975 | 12개 이상 노선 정확히 탐지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연간 2.5억원 절감</a:t>
            </a:r>
            <a:endParaRPr lang="en-US" sz="1020" dirty="0"/>
          </a:p>
        </p:txBody>
      </p:sp>
      <p:sp>
        <p:nvSpPr>
          <p:cNvPr id="140" name="Text 138"/>
          <p:cNvSpPr/>
          <p:nvPr/>
        </p:nvSpPr>
        <p:spPr>
          <a:xfrm>
            <a:off x="830461" y="10928549"/>
            <a:ext cx="767160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Phase 2: 인접 도시 확대 (6개월)</a:t>
            </a:r>
            <a:endParaRPr lang="en-US" sz="1200" dirty="0"/>
          </a:p>
        </p:txBody>
      </p:sp>
      <p:sp>
        <p:nvSpPr>
          <p:cNvPr id="141" name="Text 139"/>
          <p:cNvSpPr/>
          <p:nvPr/>
        </p:nvSpPr>
        <p:spPr>
          <a:xfrm>
            <a:off x="830461" y="11218069"/>
            <a:ext cx="7521178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대전(100노선), 세종(80노선), 청원(60노선), 충주(50노선), 제천(45노선)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플랫폼 표준화 | 날씨 통합 분석 | API 통합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절감: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약 15억원/년 (5개 도시 합산)</a:t>
            </a:r>
            <a:endParaRPr lang="en-US" sz="1020" dirty="0"/>
          </a:p>
        </p:txBody>
      </p:sp>
      <p:sp>
        <p:nvSpPr>
          <p:cNvPr id="142" name="Text 140"/>
          <p:cNvSpPr/>
          <p:nvPr/>
        </p:nvSpPr>
        <p:spPr>
          <a:xfrm>
            <a:off x="830461" y="12615070"/>
            <a:ext cx="767160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Phase 3: 전국 확산 (1년~)</a:t>
            </a:r>
            <a:endParaRPr lang="en-US" sz="1200" dirty="0"/>
          </a:p>
        </p:txBody>
      </p:sp>
      <p:sp>
        <p:nvSpPr>
          <p:cNvPr id="143" name="Text 141"/>
          <p:cNvSpPr/>
          <p:nvPr/>
        </p:nvSpPr>
        <p:spPr>
          <a:xfrm>
            <a:off x="830461" y="12904589"/>
            <a:ext cx="7521178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160개 도시 × 평균 80개 노선 = 12,800개 노선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실시간 배차 최적화 | 날씨 예측 배차 | 도로 혼잡도 연동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기대효과:</a:t>
            </a:r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국가 대중교통 효율 30%↑ | 연간 500억원 절감</a:t>
            </a:r>
            <a:endParaRPr lang="en-US" sz="1020" dirty="0"/>
          </a:p>
        </p:txBody>
      </p:sp>
      <p:sp>
        <p:nvSpPr>
          <p:cNvPr id="144" name="Text 142"/>
          <p:cNvSpPr/>
          <p:nvPr/>
        </p:nvSpPr>
        <p:spPr>
          <a:xfrm>
            <a:off x="8762802" y="11123812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80" dirty="0"/>
          </a:p>
        </p:txBody>
      </p:sp>
      <p:sp>
        <p:nvSpPr>
          <p:cNvPr id="145" name="Text 143"/>
          <p:cNvSpPr/>
          <p:nvPr/>
        </p:nvSpPr>
        <p:spPr>
          <a:xfrm>
            <a:off x="609600" y="10828338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기술 요약 &amp; 성능 지표</a:t>
            </a:r>
            <a:endParaRPr lang="en-US" sz="2700" dirty="0"/>
          </a:p>
        </p:txBody>
      </p:sp>
      <p:sp>
        <p:nvSpPr>
          <p:cNvPr id="146" name="Text 144"/>
          <p:cNvSpPr/>
          <p:nvPr/>
        </p:nvSpPr>
        <p:spPr>
          <a:xfrm>
            <a:off x="2280841" y="12793861"/>
            <a:ext cx="165123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IsolationForest: AUROC 0.89</a:t>
            </a:r>
            <a:endParaRPr lang="en-US" sz="936" dirty="0"/>
          </a:p>
        </p:txBody>
      </p:sp>
      <p:sp>
        <p:nvSpPr>
          <p:cNvPr id="147" name="Text 145"/>
          <p:cNvSpPr/>
          <p:nvPr/>
        </p:nvSpPr>
        <p:spPr>
          <a:xfrm>
            <a:off x="3996531" y="12793861"/>
            <a:ext cx="135976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LSTM-AE: AUROC 0.975</a:t>
            </a:r>
            <a:endParaRPr lang="en-US" sz="936" dirty="0"/>
          </a:p>
        </p:txBody>
      </p:sp>
      <p:sp>
        <p:nvSpPr>
          <p:cNvPr id="148" name="Text 146"/>
          <p:cNvSpPr/>
          <p:nvPr/>
        </p:nvSpPr>
        <p:spPr>
          <a:xfrm>
            <a:off x="8762802" y="12533512"/>
            <a:ext cx="7792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80" dirty="0"/>
          </a:p>
        </p:txBody>
      </p:sp>
      <p:sp>
        <p:nvSpPr>
          <p:cNvPr id="149" name="Text 147"/>
          <p:cNvSpPr/>
          <p:nvPr/>
        </p:nvSpPr>
        <p:spPr>
          <a:xfrm>
            <a:off x="609600" y="11831638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실시간 감지 프로세스</a:t>
            </a:r>
            <a:endParaRPr lang="en-US" sz="2700" dirty="0"/>
          </a:p>
        </p:txBody>
      </p:sp>
      <p:sp>
        <p:nvSpPr>
          <p:cNvPr id="150" name="Text 148"/>
          <p:cNvSpPr/>
          <p:nvPr/>
        </p:nvSpPr>
        <p:spPr>
          <a:xfrm>
            <a:off x="830461" y="12833152"/>
            <a:ext cx="35133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Step 1: 데이터 수집 (매시간)</a:t>
            </a:r>
            <a:endParaRPr lang="en-US" sz="1200" dirty="0"/>
          </a:p>
        </p:txBody>
      </p:sp>
      <p:sp>
        <p:nvSpPr>
          <p:cNvPr id="151" name="Text 149"/>
          <p:cNvSpPr/>
          <p:nvPr/>
        </p:nvSpPr>
        <p:spPr>
          <a:xfrm>
            <a:off x="830461" y="13122672"/>
            <a:ext cx="3444478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TAGO API에서 115개 노선 운행 데이터 수집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시간대별 운행 차량 수 집계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시간:</a:t>
            </a:r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실시간 (평균 2초)</a:t>
            </a:r>
            <a:endParaRPr lang="en-US" sz="984" dirty="0"/>
          </a:p>
        </p:txBody>
      </p:sp>
      <p:sp>
        <p:nvSpPr>
          <p:cNvPr id="152" name="Text 150"/>
          <p:cNvSpPr/>
          <p:nvPr/>
        </p:nvSpPr>
        <p:spPr>
          <a:xfrm>
            <a:off x="4907161" y="12745641"/>
            <a:ext cx="35133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Step 2: 실시간 분석</a:t>
            </a:r>
            <a:endParaRPr lang="en-US" sz="1200" dirty="0"/>
          </a:p>
        </p:txBody>
      </p:sp>
      <p:sp>
        <p:nvSpPr>
          <p:cNvPr id="153" name="Text 151"/>
          <p:cNvSpPr/>
          <p:nvPr/>
        </p:nvSpPr>
        <p:spPr>
          <a:xfrm>
            <a:off x="4907161" y="13035161"/>
            <a:ext cx="3444478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StandardScaler로 정규화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IsolationForest 즉시 감지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LSTM-AE 사후 검증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시간:</a:t>
            </a:r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&lt;100ms</a:t>
            </a:r>
            <a:endParaRPr lang="en-US" sz="984" dirty="0"/>
          </a:p>
        </p:txBody>
      </p:sp>
      <p:sp>
        <p:nvSpPr>
          <p:cNvPr id="154" name="Text 152"/>
          <p:cNvSpPr/>
          <p:nvPr/>
        </p:nvSpPr>
        <p:spPr>
          <a:xfrm>
            <a:off x="830461" y="14588133"/>
            <a:ext cx="767160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Step 3: 자동 알람 &amp; 대응 제시</a:t>
            </a:r>
            <a:endParaRPr lang="en-US" sz="1200" dirty="0"/>
          </a:p>
        </p:txBody>
      </p:sp>
      <p:sp>
        <p:nvSpPr>
          <p:cNvPr id="155" name="Text 153"/>
          <p:cNvSpPr/>
          <p:nvPr/>
        </p:nvSpPr>
        <p:spPr>
          <a:xfrm>
            <a:off x="830461" y="14877654"/>
            <a:ext cx="7521178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84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감지 시:</a:t>
            </a:r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담당자 앱 푸시알림 + 이메일 + SMS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정보:</a:t>
            </a:r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노선번호 | 이상도 | 원인 분류 | 추천 조치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84" dirty="0"/>
          </a:p>
          <a:p>
            <a:pPr indent="0" marL="0">
              <a:lnSpc>
                <a:spcPts val="1378"/>
              </a:lnSpc>
              <a:buNone/>
            </a:pPr>
            <a:r>
              <a:rPr lang="en-US" sz="984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</a:t>
            </a:r>
            <a:pPr indent="0" marL="0">
              <a:lnSpc>
                <a:spcPts val="1378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"100번 이상 감지 (-0.744) → 예비차량 배치 &amp; 교대 일정 조정 권장"</a:t>
            </a:r>
            <a:endParaRPr lang="en-US" sz="984" dirty="0"/>
          </a:p>
        </p:txBody>
      </p:sp>
      <p:sp>
        <p:nvSpPr>
          <p:cNvPr id="156" name="Text 154"/>
          <p:cNvSpPr/>
          <p:nvPr/>
        </p:nvSpPr>
        <p:spPr>
          <a:xfrm>
            <a:off x="8696920" y="13943212"/>
            <a:ext cx="145125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80" dirty="0"/>
          </a:p>
        </p:txBody>
      </p:sp>
      <p:sp>
        <p:nvSpPr>
          <p:cNvPr id="157" name="Text 155"/>
          <p:cNvSpPr/>
          <p:nvPr/>
        </p:nvSpPr>
        <p:spPr>
          <a:xfrm>
            <a:off x="609600" y="1320165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최종 결론</a:t>
            </a:r>
            <a:endParaRPr lang="en-US" sz="2700" dirty="0"/>
          </a:p>
        </p:txBody>
      </p:sp>
      <p:sp>
        <p:nvSpPr>
          <p:cNvPr id="158" name="Text 156"/>
          <p:cNvSpPr/>
          <p:nvPr/>
        </p:nvSpPr>
        <p:spPr>
          <a:xfrm>
            <a:off x="876300" y="14070211"/>
            <a:ext cx="7429500" cy="117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68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+ IsolationForest + LSTM-AE</a:t>
            </a:r>
            <a:pPr indent="0" marL="0">
              <a:lnSpc>
                <a:spcPts val="2268"/>
              </a:lnSpc>
              <a:buNone/>
            </a:pPr>
            <a:r>
              <a:rPr lang="en-US" sz="126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다중 모델 결합으로</a:t>
            </a:r>
            <a:endParaRPr lang="en-US" sz="126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26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6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3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0.89~0.975</a:t>
            </a:r>
            <a:pPr indent="0" marL="0">
              <a:lnSpc>
                <a:spcPts val="2268"/>
              </a:lnSpc>
              <a:buNone/>
            </a:pPr>
            <a:r>
              <a:rPr lang="en-US" sz="126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고성능 이상탐지 달성</a:t>
            </a:r>
            <a:endParaRPr lang="en-US" sz="126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26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6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26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6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2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폭설/악천후 시 자동 감지 → 실시간 대응 → 비용 절감</a:t>
            </a:r>
            <a:endParaRPr lang="en-US" sz="1260" dirty="0"/>
          </a:p>
        </p:txBody>
      </p:sp>
      <p:sp>
        <p:nvSpPr>
          <p:cNvPr id="159" name="Text 157"/>
          <p:cNvSpPr/>
          <p:nvPr/>
        </p:nvSpPr>
        <p:spPr>
          <a:xfrm>
            <a:off x="609600" y="15858332"/>
            <a:ext cx="170021" cy="34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20" dirty="0"/>
          </a:p>
        </p:txBody>
      </p:sp>
      <p:sp>
        <p:nvSpPr>
          <p:cNvPr id="160" name="Text 158"/>
          <p:cNvSpPr/>
          <p:nvPr/>
        </p:nvSpPr>
        <p:spPr>
          <a:xfrm>
            <a:off x="928688" y="15858332"/>
            <a:ext cx="7757827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의사결정: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115개 노선 자동 분석 | 정책 수립 5배 단축 | 조사비 70% 절감</a:t>
            </a:r>
            <a:endParaRPr lang="en-US" sz="1080" dirty="0"/>
          </a:p>
        </p:txBody>
      </p:sp>
      <p:sp>
        <p:nvSpPr>
          <p:cNvPr id="161" name="Text 159"/>
          <p:cNvSpPr/>
          <p:nvPr/>
        </p:nvSpPr>
        <p:spPr>
          <a:xfrm>
            <a:off x="609600" y="16321485"/>
            <a:ext cx="170021" cy="34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20" dirty="0"/>
          </a:p>
        </p:txBody>
      </p:sp>
      <p:sp>
        <p:nvSpPr>
          <p:cNvPr id="162" name="Text 160"/>
          <p:cNvSpPr/>
          <p:nvPr/>
        </p:nvSpPr>
        <p:spPr>
          <a:xfrm>
            <a:off x="928688" y="16321485"/>
            <a:ext cx="7757827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효율화: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배차 효율 30%↑ | 운영비 25%↓ | 연간 2.5억원 절감</a:t>
            </a:r>
            <a:endParaRPr lang="en-US" sz="1080" dirty="0"/>
          </a:p>
        </p:txBody>
      </p:sp>
      <p:sp>
        <p:nvSpPr>
          <p:cNvPr id="163" name="Text 161"/>
          <p:cNvSpPr/>
          <p:nvPr/>
        </p:nvSpPr>
        <p:spPr>
          <a:xfrm>
            <a:off x="609600" y="16784638"/>
            <a:ext cx="170021" cy="34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20" dirty="0"/>
          </a:p>
        </p:txBody>
      </p:sp>
      <p:sp>
        <p:nvSpPr>
          <p:cNvPr id="164" name="Text 162"/>
          <p:cNvSpPr/>
          <p:nvPr/>
        </p:nvSpPr>
        <p:spPr>
          <a:xfrm>
            <a:off x="928688" y="16784638"/>
            <a:ext cx="7757827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시민 체감: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배차 신뢰도 26%↑ | 고객 만족도 23%↑ | 서비스 품질 혁신</a:t>
            </a:r>
            <a:endParaRPr lang="en-US" sz="1080" dirty="0"/>
          </a:p>
        </p:txBody>
      </p:sp>
      <p:sp>
        <p:nvSpPr>
          <p:cNvPr id="165" name="Text 163"/>
          <p:cNvSpPr/>
          <p:nvPr/>
        </p:nvSpPr>
        <p:spPr>
          <a:xfrm>
            <a:off x="8686602" y="15352912"/>
            <a:ext cx="15565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2025-12-07T05:48:14Z</dcterms:created>
  <dcterms:modified xsi:type="dcterms:W3CDTF">2025-12-07T05:48:14Z</dcterms:modified>
</cp:coreProperties>
</file>