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1488" y="1648420"/>
            <a:ext cx="3821025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청주 버스 이상 감지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68922" y="2318742"/>
            <a:ext cx="2805958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4"/>
              </a:lnSpc>
              <a:buNone/>
            </a:pPr>
            <a:r>
              <a:rPr lang="en-US" sz="19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실시간 알람 &amp; 대응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3651659" y="2839839"/>
            <a:ext cx="1840683" cy="23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스마트 시티 운영 혁신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3279636" y="3303191"/>
            <a:ext cx="258472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KMeans + IsolationForest + LSTM-AE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762038" y="4723011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상황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228600" y="740371"/>
            <a:ext cx="320207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4929" y="740371"/>
            <a:ext cx="21621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현재의 버스 운영 문제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29" y="968772"/>
            <a:ext cx="2162104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폭설, 악천후 → 배차 이상 | 불규칙 운행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28600" y="1378744"/>
            <a:ext cx="320207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4929" y="1378744"/>
            <a:ext cx="19010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 대응의 한계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29" y="1607146"/>
            <a:ext cx="1901000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대응까지 </a:t>
            </a:r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지연 | 비용 손실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28600" y="2017118"/>
            <a:ext cx="320207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29" y="2017118"/>
            <a:ext cx="167673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활용 부족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29" y="2245519"/>
            <a:ext cx="1676733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미활용 | 패턴 분석 없음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762802" y="47230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40371"/>
            <a:ext cx="4252119" cy="101937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3480" y="740371"/>
            <a:ext cx="4252119" cy="101937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2110185"/>
            <a:ext cx="8686800" cy="68421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 이상 감지 시스템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419100" y="892771"/>
            <a:ext cx="3987403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데이터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19100" y="1127522"/>
            <a:ext cx="390921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TAGO API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115개 노선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날씨 데이터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53980" y="892771"/>
            <a:ext cx="3987403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분석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853980" y="1127522"/>
            <a:ext cx="390921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KMeans (5개)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IsolationForest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LSTM-AE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9100" y="2262585"/>
            <a:ext cx="8510778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실시간 알람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19100" y="2482057"/>
            <a:ext cx="8510778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 → 즉시 알람 | 예비차량 배치 | 배차 조정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2802" y="47230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10010"/>
            <a:ext cx="4267200" cy="6643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710010"/>
            <a:ext cx="4267200" cy="6643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데이터셋 구성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419100" y="862410"/>
            <a:ext cx="4002786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TAGO 운행 데이터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19100" y="1072555"/>
            <a:ext cx="4002786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115개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노선 | </a:t>
            </a:r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2,760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조합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4838700" y="862410"/>
            <a:ext cx="4002786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🌦️ 날씨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838700" y="1072555"/>
            <a:ext cx="4002786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폭설, 강우, 기온 | StandardScaler 정규화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762802" y="47230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알고리즘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1531739" y="1616473"/>
            <a:ext cx="41675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001220" y="1629173"/>
            <a:ext cx="118124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운행 패턴 자동 분류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1531739" y="1984772"/>
            <a:ext cx="71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5001220" y="1997473"/>
            <a:ext cx="150084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10% 비정상 | AUROC 0.89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6482160" y="2365772"/>
            <a:ext cx="27203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8762802" y="47230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10010"/>
            <a:ext cx="4252119" cy="100409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3480" y="710010"/>
            <a:ext cx="4252119" cy="100409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866505"/>
            <a:ext cx="8686800" cy="83839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분석 결과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380008" y="862410"/>
            <a:ext cx="3987403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80008" y="1081883"/>
            <a:ext cx="398740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0008" y="1401763"/>
            <a:ext cx="3987403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89.6%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14888" y="862410"/>
            <a:ext cx="3987403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이상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814888" y="1081883"/>
            <a:ext cx="398740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14888" y="1401763"/>
            <a:ext cx="3987403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9100" y="2018905"/>
            <a:ext cx="8510778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5가지 클러스터 패턴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19100" y="2253655"/>
            <a:ext cx="8343900" cy="298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100,101,102 (출근형) | </a:t>
            </a:r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500~504 (저수요)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600 (균등) | </a:t>
            </a:r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103개 (저녁) | </a:t>
            </a:r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1,2,3 (복합)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8762802" y="47230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상위 이상 노선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228600" y="3419475"/>
            <a:ext cx="8860536" cy="1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 범위: </a:t>
            </a:r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-0.744(최악) ~ -0.641(경미)</a:t>
            </a:r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평균: -0.425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8762802" y="47230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성능 비교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5955110" y="1318022"/>
            <a:ext cx="227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54153" y="1648223"/>
            <a:ext cx="227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55110" y="1648223"/>
            <a:ext cx="2918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9850" y="1654573"/>
            <a:ext cx="461486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성능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2241" y="1978423"/>
            <a:ext cx="23337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3197" y="1978423"/>
            <a:ext cx="23337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54153" y="1978423"/>
            <a:ext cx="227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55110" y="1978423"/>
            <a:ext cx="227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2487616"/>
            <a:ext cx="8860536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적용: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IsolationForest (실시간) + LSTM-AE (검증) | 앙상블로 판정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2802" y="4723014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223172"/>
            <a:ext cx="4438650" cy="99377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폭설 감지 사례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419100" y="1375572"/>
            <a:ext cx="4177665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12월 4일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19100" y="1616273"/>
            <a:ext cx="4095750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100번, 127번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운행 급감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예비차량 배치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8762802" y="4723014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6750" y="1038820"/>
            <a:ext cx="4438650" cy="13624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100번 노선 분석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4667250" y="1191220"/>
            <a:ext cx="4177665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667250" y="1416648"/>
            <a:ext cx="4095750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출근시간 급증</a:t>
            </a:r>
            <a:endParaRPr lang="en-US" sz="840" dirty="0"/>
          </a:p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극대 편차</a:t>
            </a:r>
            <a:endParaRPr lang="en-US" sz="840" dirty="0"/>
          </a:p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야간 급락</a:t>
            </a:r>
            <a:endParaRPr lang="en-US" sz="840" dirty="0"/>
          </a:p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절감:</a:t>
            </a:r>
            <a:pPr indent="0" marL="0">
              <a:lnSpc>
                <a:spcPts val="1092"/>
              </a:lnSpc>
              <a:buNone/>
            </a:pPr>
            <a:endParaRPr lang="en-US" sz="840" dirty="0"/>
          </a:p>
          <a:p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₩5,500만/년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8686602" y="4723014"/>
            <a:ext cx="15565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3042"/>
            <a:ext cx="8686800" cy="38238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5가지 클러스터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388541" y="3164881"/>
            <a:ext cx="8573119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C0: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출근형 (100,101,102) | </a:t>
            </a:r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저수요 (500~504) | </a:t>
            </a:r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균등 | </a:t>
            </a:r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저녁형 | </a:t>
            </a:r>
            <a:pPr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</a:t>
            </a:r>
            <a:pPr indent="0" marL="0">
              <a:lnSpc>
                <a:spcPts val="1092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복합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8696920" y="4723014"/>
            <a:ext cx="145125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6750" y="967978"/>
            <a:ext cx="4438650" cy="14898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이상점수 분포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4667250" y="1120378"/>
            <a:ext cx="4177665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667250" y="1345806"/>
            <a:ext cx="4095750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정상: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-0.45~-0.48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이상: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-0.58~-0.50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성능:</a:t>
            </a:r>
            <a:pPr indent="0" marL="0">
              <a:lnSpc>
                <a:spcPts val="1260"/>
              </a:lnSpc>
              <a:buNone/>
            </a:pP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AUROC 0.89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 88%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602" y="4723014"/>
            <a:ext cx="15565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기대 효과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480719" y="1298972"/>
            <a:ext cx="3021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23%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4480719" y="1616473"/>
            <a:ext cx="3021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23%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4480719" y="1933975"/>
            <a:ext cx="3021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26%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4480719" y="2251472"/>
            <a:ext cx="3021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25%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6042025" y="2264173"/>
            <a:ext cx="48132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2.5억원/년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4480719" y="2581675"/>
            <a:ext cx="39064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5배 단축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28600" y="3026173"/>
            <a:ext cx="8860536" cy="138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 출처: 간선(5,500만) + 지선(8,500만) + 시내(4,500만)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686602" y="4723014"/>
            <a:ext cx="15565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10012"/>
            <a:ext cx="8686800" cy="6032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465659"/>
            <a:ext cx="8686800" cy="6032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2221311"/>
            <a:ext cx="8686800" cy="6032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228600"/>
            <a:ext cx="8860536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확대 계획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388541" y="831852"/>
            <a:ext cx="8573119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Phase 1: 청주 (진행)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88541" y="1041997"/>
            <a:ext cx="8573119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115노선 | AUROC 0.89~0.975 | 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2.5억/년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88541" y="1587503"/>
            <a:ext cx="8573119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Phase 2: 도시 확대 (6개월)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88541" y="1797648"/>
            <a:ext cx="8573119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대전, 세종, 청원, 충주, 제천 | 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15억/년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388541" y="2343150"/>
            <a:ext cx="8573119" cy="1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Phase 3: 전국 (1년~)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88541" y="2553295"/>
            <a:ext cx="8573119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160도시 | 12,800노선 | 효율 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30%↑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500억/년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686602" y="4723014"/>
            <a:ext cx="15565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9689" y="1731369"/>
            <a:ext cx="3324424" cy="1028502"/>
          </a:xfrm>
          <a:prstGeom prst="roundRect">
            <a:avLst>
              <a:gd name="adj" fmla="val 5334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87676" y="228600"/>
            <a:ext cx="1568649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21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최종 결론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3130550" y="1914130"/>
            <a:ext cx="2920802" cy="6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+ IsolationForest + LSTM-AE</a:t>
            </a:r>
            <a:pPr algn="ctr" indent="0" marL="0">
              <a:lnSpc>
                <a:spcPts val="1710"/>
              </a:lnSpc>
              <a:buNone/>
            </a:pPr>
            <a:endParaRPr lang="en-US" sz="1140" dirty="0"/>
          </a:p>
          <a:p>
            <a:pPr algn="ctr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algn="ctr" indent="0" marL="0">
              <a:lnSpc>
                <a:spcPts val="1710"/>
              </a:lnSpc>
              <a:buNone/>
            </a:pPr>
            <a:r>
              <a:rPr lang="en-US" sz="132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0.89~0.975</a:t>
            </a:r>
            <a:pPr algn="ctr" indent="0" marL="0">
              <a:lnSpc>
                <a:spcPts val="1710"/>
              </a:lnSpc>
              <a:buNone/>
            </a:pPr>
            <a:endParaRPr lang="en-US" sz="1140" dirty="0"/>
          </a:p>
          <a:p>
            <a:pPr algn="ctr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algn="ctr" indent="0" marL="0">
              <a:lnSpc>
                <a:spcPts val="1710"/>
              </a:lnSpc>
              <a:buNone/>
            </a:pPr>
            <a:r>
              <a:rPr lang="en-US" sz="102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감지 → 실시간 대응 → 비용 절감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2908439" y="2912269"/>
            <a:ext cx="12751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3139679" y="2912269"/>
            <a:ext cx="1720453" cy="1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</a:t>
            </a:r>
            <a:pPr algn="ctr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115노선 분석 | 정책 5배↑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908439" y="3290097"/>
            <a:ext cx="12751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3142651" y="3290097"/>
            <a:ext cx="1417249" cy="1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효율:</a:t>
            </a:r>
            <a:pPr algn="ctr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배차 30%↑ | </a:t>
            </a:r>
            <a:pPr algn="ctr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2.5억/년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908439" y="3667920"/>
            <a:ext cx="12751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139053" y="3667920"/>
            <a:ext cx="1784211" cy="1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체감:</a:t>
            </a:r>
            <a:pPr algn="ctr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신뢰도 26%↑ | 만족도 23%↑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685076" y="4723014"/>
            <a:ext cx="15565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2025-12-07T06:35:14Z</dcterms:created>
  <dcterms:modified xsi:type="dcterms:W3CDTF">2025-12-07T06:35:14Z</dcterms:modified>
</cp:coreProperties>
</file>